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47"/>
  </p:notesMasterIdLst>
  <p:sldIdLst>
    <p:sldId id="525" r:id="rId2"/>
    <p:sldId id="42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1682" r:id="rId12"/>
    <p:sldId id="1662" r:id="rId13"/>
    <p:sldId id="268" r:id="rId14"/>
    <p:sldId id="269" r:id="rId15"/>
    <p:sldId id="1683" r:id="rId16"/>
    <p:sldId id="1684" r:id="rId17"/>
    <p:sldId id="1685" r:id="rId18"/>
    <p:sldId id="1686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9" r:id="rId27"/>
    <p:sldId id="280" r:id="rId28"/>
    <p:sldId id="281" r:id="rId29"/>
    <p:sldId id="282" r:id="rId30"/>
    <p:sldId id="283" r:id="rId31"/>
    <p:sldId id="284" r:id="rId32"/>
    <p:sldId id="1687" r:id="rId33"/>
    <p:sldId id="1688" r:id="rId34"/>
    <p:sldId id="1689" r:id="rId35"/>
    <p:sldId id="1690" r:id="rId36"/>
    <p:sldId id="1691" r:id="rId37"/>
    <p:sldId id="1692" r:id="rId38"/>
    <p:sldId id="1693" r:id="rId39"/>
    <p:sldId id="1694" r:id="rId40"/>
    <p:sldId id="1695" r:id="rId41"/>
    <p:sldId id="1696" r:id="rId42"/>
    <p:sldId id="1697" r:id="rId43"/>
    <p:sldId id="1698" r:id="rId44"/>
    <p:sldId id="1699" r:id="rId45"/>
    <p:sldId id="158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v" initials="C" lastIdx="1" clrIdx="0">
    <p:extLst>
      <p:ext uri="{19B8F6BF-5375-455C-9EA6-DF929625EA0E}">
        <p15:presenceInfo xmlns:p15="http://schemas.microsoft.com/office/powerpoint/2012/main" userId="C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60"/>
  </p:normalViewPr>
  <p:slideViewPr>
    <p:cSldViewPr>
      <p:cViewPr varScale="1">
        <p:scale>
          <a:sx n="72" d="100"/>
          <a:sy n="72" d="100"/>
        </p:scale>
        <p:origin x="774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492876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9105A73-7F42-4A6D-AA81-75748D395AAB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92876"/>
            <a:ext cx="3860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77001"/>
            <a:ext cx="28448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1566-1D6B-4D72-B5B7-62F14E430C9A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0F204-3F19-428D-937F-05B99C342FBC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Dr. Qurat Ul Ain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D2ED6-9E90-43ED-BA21-CDD9754A48E3}" type="datetime1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Dr. Qurat Ul Ain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9EB36-00C1-4C67-9619-1B50D6ADA59A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Dr. Qurat Ul Ain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524000"/>
            <a:ext cx="109728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C33AE-F2BB-46BA-9F23-9E5665F8BEB1}" type="datetime1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Dr. Qurat Ul Ain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11D84-FE81-4430-A8EB-4F693850480C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Dr. Qurat Ul Ain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66793-C187-494C-95C1-EB8036C7C25A}" type="datetime1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Dr. Qurat Ul Ain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FDE96-856D-47CA-98F0-C244E2B8E749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2E5B9-7C89-447F-BAAC-8F6FFF5331BD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1D6CDA-11BC-4FB9-AD2D-41970D93B461}"/>
              </a:ext>
            </a:extLst>
          </p:cNvPr>
          <p:cNvSpPr/>
          <p:nvPr userDrawn="1"/>
        </p:nvSpPr>
        <p:spPr>
          <a:xfrm>
            <a:off x="14400" y="182564"/>
            <a:ext cx="12158400" cy="3508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28801"/>
            <a:ext cx="109728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F9539C6-F209-44F6-83D2-D947D8BE34F2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477000"/>
            <a:ext cx="3860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Presented by Dr. Qurat Ul Ain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0"/>
            <a:ext cx="284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proceedings.neurips.cc/paper_files/paper/2012/file/c399862d3b9d6b76c8436e924a68c45b-Paper.pdf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75A74-33FE-4BFF-BF7F-CB8CA631B63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4800" y="440891"/>
            <a:ext cx="723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National University of Computer and Emerging Sciences,</a:t>
            </a:r>
          </a:p>
          <a:p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</a:rPr>
              <a:t>Islamabad, Pakistan</a:t>
            </a:r>
            <a:endParaRPr lang="en-US" b="1" dirty="0">
              <a:solidFill>
                <a:schemeClr val="tx2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1600200" y="2589242"/>
            <a:ext cx="88391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Architectures of Convolutional Neural Networks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514600" y="3842753"/>
            <a:ext cx="739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800" b="1" dirty="0"/>
              <a:t>CS-4045: Deep </a:t>
            </a:r>
            <a:r>
              <a:rPr lang="en-US" sz="2800" b="1"/>
              <a:t>Learning  </a:t>
            </a:r>
            <a:endParaRPr lang="en-US" sz="2800" b="1" dirty="0"/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979" y="228600"/>
            <a:ext cx="1223315" cy="122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660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marL="713831" lvl="1" indent="-302575">
              <a:spcBef>
                <a:spcPts val="7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24" spc="-4" dirty="0" err="1">
                <a:latin typeface="Arial MT"/>
                <a:cs typeface="Arial MT"/>
              </a:rPr>
              <a:t>ConvNets</a:t>
            </a:r>
            <a:r>
              <a:rPr lang="en-US" sz="2424" spc="-22" dirty="0">
                <a:latin typeface="Arial MT"/>
                <a:cs typeface="Arial MT"/>
              </a:rPr>
              <a:t> </a:t>
            </a:r>
            <a:r>
              <a:rPr lang="en-US" sz="2424" spc="4" dirty="0">
                <a:latin typeface="Arial MT"/>
                <a:cs typeface="Arial MT"/>
              </a:rPr>
              <a:t>vs.</a:t>
            </a:r>
            <a:r>
              <a:rPr lang="en-US" sz="2424" spc="-71" dirty="0">
                <a:latin typeface="Arial MT"/>
                <a:cs typeface="Arial MT"/>
              </a:rPr>
              <a:t> </a:t>
            </a:r>
            <a:r>
              <a:rPr lang="en-US" sz="2424" spc="-18" dirty="0">
                <a:latin typeface="Arial MT"/>
                <a:cs typeface="Arial MT"/>
              </a:rPr>
              <a:t>Traditional </a:t>
            </a:r>
            <a:r>
              <a:rPr lang="en-US" sz="2424" spc="-4" dirty="0">
                <a:latin typeface="Arial MT"/>
                <a:cs typeface="Arial MT"/>
              </a:rPr>
              <a:t>Computer</a:t>
            </a:r>
            <a:r>
              <a:rPr lang="en-US" sz="2424" spc="-13" dirty="0">
                <a:latin typeface="Arial MT"/>
                <a:cs typeface="Arial MT"/>
              </a:rPr>
              <a:t> Vision</a:t>
            </a:r>
            <a:endParaRPr lang="en-US" sz="2424" dirty="0">
              <a:latin typeface="Arial MT"/>
              <a:cs typeface="Arial MT"/>
            </a:endParaRPr>
          </a:p>
          <a:p>
            <a:pPr marL="713831" lvl="1" indent="-302575">
              <a:spcBef>
                <a:spcPts val="679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424" spc="-4" dirty="0" err="1">
                <a:latin typeface="Arial MT"/>
                <a:cs typeface="Arial MT"/>
              </a:rPr>
              <a:t>ConvNet</a:t>
            </a:r>
            <a:r>
              <a:rPr lang="en-US" sz="2424" spc="-194" dirty="0">
                <a:latin typeface="Arial MT"/>
                <a:cs typeface="Arial MT"/>
              </a:rPr>
              <a:t> </a:t>
            </a:r>
            <a:r>
              <a:rPr lang="en-US" sz="2424" spc="-4" dirty="0">
                <a:latin typeface="Arial MT"/>
                <a:cs typeface="Arial MT"/>
              </a:rPr>
              <a:t>Architectures</a:t>
            </a:r>
            <a:endParaRPr lang="en-US" sz="2424" dirty="0">
              <a:latin typeface="Arial MT"/>
              <a:cs typeface="Arial MT"/>
            </a:endParaRPr>
          </a:p>
          <a:p>
            <a:pPr marL="1067396" lvl="2" indent="-253827">
              <a:spcBef>
                <a:spcPts val="604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C00000"/>
                </a:solidFill>
                <a:latin typeface="Arial MT"/>
                <a:cs typeface="Arial MT"/>
              </a:rPr>
              <a:t>LeNet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C00000"/>
                </a:solidFill>
                <a:latin typeface="Arial MT"/>
                <a:cs typeface="Arial MT"/>
              </a:rPr>
              <a:t>AlexNet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1"/>
              </a:spcBef>
              <a:buChar char="–"/>
              <a:tabLst>
                <a:tab pos="667906" algn="l"/>
              </a:tabLst>
            </a:pPr>
            <a:r>
              <a:rPr lang="en-US" sz="2071" spc="-9" dirty="0">
                <a:solidFill>
                  <a:srgbClr val="C00000"/>
                </a:solidFill>
                <a:latin typeface="Arial MT"/>
                <a:cs typeface="Arial MT"/>
              </a:rPr>
              <a:t>VGG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>
                <a:solidFill>
                  <a:srgbClr val="006500"/>
                </a:solidFill>
                <a:latin typeface="Arial MT"/>
                <a:cs typeface="Arial MT"/>
              </a:rPr>
              <a:t>The</a:t>
            </a:r>
            <a:r>
              <a:rPr lang="en-US" sz="2071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2071" dirty="0">
                <a:solidFill>
                  <a:srgbClr val="006500"/>
                </a:solidFill>
                <a:latin typeface="Arial MT"/>
                <a:cs typeface="Arial MT"/>
              </a:rPr>
              <a:t>Inception</a:t>
            </a:r>
            <a:r>
              <a:rPr lang="en-US" sz="2071" spc="-26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2071" spc="-4" dirty="0">
                <a:solidFill>
                  <a:srgbClr val="006500"/>
                </a:solidFill>
                <a:latin typeface="Arial MT"/>
                <a:cs typeface="Arial MT"/>
              </a:rPr>
              <a:t>Family</a:t>
            </a:r>
            <a:endParaRPr lang="en-US" sz="2071" dirty="0">
              <a:latin typeface="Arial MT"/>
              <a:cs typeface="Arial MT"/>
            </a:endParaRPr>
          </a:p>
          <a:p>
            <a:pPr marL="1476990" lvl="3" indent="-202277">
              <a:spcBef>
                <a:spcPts val="521"/>
              </a:spcBef>
              <a:buChar char="•"/>
              <a:tabLst>
                <a:tab pos="1019790" algn="l"/>
              </a:tabLst>
            </a:pP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V1,</a:t>
            </a:r>
            <a:r>
              <a:rPr lang="en-US" sz="1918" spc="-13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V2,</a:t>
            </a:r>
            <a:r>
              <a:rPr lang="en-US" sz="1918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V3,</a:t>
            </a:r>
            <a:r>
              <a:rPr lang="en-US" sz="1918" spc="4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V4,</a:t>
            </a:r>
            <a:r>
              <a:rPr lang="en-US" sz="1918" spc="-9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Inception-</a:t>
            </a:r>
            <a:r>
              <a:rPr lang="en-US" sz="1918" spc="-4" dirty="0" err="1">
                <a:solidFill>
                  <a:srgbClr val="006500"/>
                </a:solidFill>
                <a:latin typeface="Arial MT"/>
                <a:cs typeface="Arial MT"/>
              </a:rPr>
              <a:t>ResNet</a:t>
            </a:r>
            <a:r>
              <a:rPr lang="en-US" sz="1918" spc="-4" dirty="0">
                <a:solidFill>
                  <a:srgbClr val="006500"/>
                </a:solidFill>
                <a:latin typeface="Arial MT"/>
                <a:cs typeface="Arial MT"/>
              </a:rPr>
              <a:t>,</a:t>
            </a:r>
            <a:r>
              <a:rPr lang="en-US" sz="1918" spc="13" dirty="0">
                <a:solidFill>
                  <a:srgbClr val="006500"/>
                </a:solidFill>
                <a:latin typeface="Arial MT"/>
                <a:cs typeface="Arial MT"/>
              </a:rPr>
              <a:t> </a:t>
            </a:r>
            <a:r>
              <a:rPr lang="en-US" sz="1918" spc="-4" dirty="0" err="1">
                <a:solidFill>
                  <a:srgbClr val="006500"/>
                </a:solidFill>
                <a:latin typeface="Arial MT"/>
                <a:cs typeface="Arial MT"/>
              </a:rPr>
              <a:t>Xception</a:t>
            </a:r>
            <a:endParaRPr lang="en-US" sz="1918" dirty="0">
              <a:latin typeface="Arial MT"/>
              <a:cs typeface="Arial MT"/>
            </a:endParaRPr>
          </a:p>
          <a:p>
            <a:pPr marL="1067396" lvl="2" indent="-253827">
              <a:spcBef>
                <a:spcPts val="578"/>
              </a:spcBef>
              <a:buChar char="–"/>
              <a:tabLst>
                <a:tab pos="667906" algn="l"/>
              </a:tabLst>
            </a:pPr>
            <a:r>
              <a:rPr lang="en-US" sz="2071" dirty="0">
                <a:solidFill>
                  <a:srgbClr val="006500"/>
                </a:solidFill>
                <a:latin typeface="Arial MT"/>
                <a:cs typeface="Arial MT"/>
              </a:rPr>
              <a:t>Resent</a:t>
            </a:r>
            <a:endParaRPr lang="en-US" sz="2071" dirty="0">
              <a:latin typeface="Arial MT"/>
              <a:cs typeface="Arial MT"/>
            </a:endParaRPr>
          </a:p>
          <a:p>
            <a:pPr marL="1067396" lvl="2" indent="-253827">
              <a:spcBef>
                <a:spcPts val="596"/>
              </a:spcBef>
              <a:buChar char="–"/>
              <a:tabLst>
                <a:tab pos="667906" algn="l"/>
              </a:tabLst>
            </a:pPr>
            <a:r>
              <a:rPr lang="en-US" sz="2071" spc="-4" dirty="0" err="1">
                <a:solidFill>
                  <a:srgbClr val="006500"/>
                </a:solidFill>
                <a:latin typeface="Arial MT"/>
                <a:cs typeface="Arial MT"/>
              </a:rPr>
              <a:t>DenseNet</a:t>
            </a:r>
            <a:endParaRPr lang="en-US" sz="2071" dirty="0">
              <a:latin typeface="Arial MT"/>
              <a:cs typeface="Arial MT"/>
            </a:endParaRPr>
          </a:p>
          <a:p>
            <a:pPr lvl="1"/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33925-4C14-474D-9253-A239DDD80BD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F00161-C567-8748-E932-29104822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24" spc="-4" dirty="0">
                <a:solidFill>
                  <a:srgbClr val="FF0000"/>
                </a:solidFill>
                <a:latin typeface="Arial MT"/>
                <a:cs typeface="Arial MT"/>
              </a:rPr>
              <a:t>Image classification </a:t>
            </a:r>
            <a:r>
              <a:rPr lang="en-US" sz="2824" spc="-4" dirty="0">
                <a:latin typeface="Arial MT"/>
                <a:cs typeface="Arial MT"/>
              </a:rPr>
              <a:t>is the task of classifying </a:t>
            </a:r>
            <a:r>
              <a:rPr lang="en-US" sz="2824" spc="-772" dirty="0">
                <a:latin typeface="Arial MT"/>
                <a:cs typeface="Arial MT"/>
              </a:rPr>
              <a:t> </a:t>
            </a:r>
            <a:r>
              <a:rPr lang="en-US" sz="2824" dirty="0">
                <a:latin typeface="Arial MT"/>
                <a:cs typeface="Arial MT"/>
              </a:rPr>
              <a:t>a </a:t>
            </a:r>
            <a:r>
              <a:rPr lang="en-US" sz="2824" spc="-4" dirty="0">
                <a:latin typeface="Arial MT"/>
                <a:cs typeface="Arial MT"/>
              </a:rPr>
              <a:t>given image into one of the pre-defined categories.</a:t>
            </a:r>
            <a:endParaRPr lang="en-US" sz="2824" dirty="0">
              <a:latin typeface="Arial MT"/>
              <a:cs typeface="Arial MT"/>
            </a:endParaRPr>
          </a:p>
          <a:p>
            <a:pPr marL="313221" marR="278481" indent="-302575">
              <a:spcBef>
                <a:spcPts val="679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24" spc="-18" dirty="0">
                <a:latin typeface="Arial MT"/>
                <a:cs typeface="Arial MT"/>
              </a:rPr>
              <a:t>Traditional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9" dirty="0">
                <a:latin typeface="Arial MT"/>
                <a:cs typeface="Arial MT"/>
              </a:rPr>
              <a:t>pipeline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for</a:t>
            </a:r>
            <a:r>
              <a:rPr lang="en-US" sz="2824" spc="9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image</a:t>
            </a:r>
            <a:r>
              <a:rPr lang="en-US" sz="2824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classification </a:t>
            </a:r>
            <a:r>
              <a:rPr lang="en-US" sz="2824" spc="-772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involves</a:t>
            </a:r>
            <a:r>
              <a:rPr lang="en-US" sz="2824" spc="-22" dirty="0">
                <a:latin typeface="Arial MT"/>
                <a:cs typeface="Arial MT"/>
              </a:rPr>
              <a:t> </a:t>
            </a:r>
            <a:r>
              <a:rPr lang="en-US" sz="2824" dirty="0">
                <a:latin typeface="Arial MT"/>
                <a:cs typeface="Arial MT"/>
              </a:rPr>
              <a:t>two</a:t>
            </a:r>
            <a:r>
              <a:rPr lang="en-US" sz="2824" spc="-9" dirty="0">
                <a:latin typeface="Arial MT"/>
                <a:cs typeface="Arial MT"/>
              </a:rPr>
              <a:t> </a:t>
            </a:r>
            <a:r>
              <a:rPr lang="en-US" sz="2824" spc="-4" dirty="0">
                <a:latin typeface="Arial MT"/>
                <a:cs typeface="Arial MT"/>
              </a:rPr>
              <a:t>modules:</a:t>
            </a:r>
            <a:endParaRPr lang="en-US" sz="2824" dirty="0">
              <a:latin typeface="Arial MT"/>
              <a:cs typeface="Arial MT"/>
            </a:endParaRPr>
          </a:p>
          <a:p>
            <a:pPr marL="667346" lvl="1" indent="-253827">
              <a:spcBef>
                <a:spcPts val="609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471" b="1" spc="-4" dirty="0">
                <a:latin typeface="Arial"/>
                <a:cs typeface="Arial"/>
              </a:rPr>
              <a:t>Feature extraction</a:t>
            </a:r>
            <a:endParaRPr lang="en-US" sz="2471" dirty="0">
              <a:latin typeface="Arial"/>
              <a:cs typeface="Arial"/>
            </a:endParaRPr>
          </a:p>
          <a:p>
            <a:pPr marL="667346" lvl="1" indent="-253827">
              <a:spcBef>
                <a:spcPts val="591"/>
              </a:spcBef>
              <a:buFont typeface="Arial MT"/>
              <a:buChar char="–"/>
              <a:tabLst>
                <a:tab pos="667906" algn="l"/>
              </a:tabLst>
            </a:pPr>
            <a:r>
              <a:rPr lang="en-US" sz="2471" b="1" spc="-4" dirty="0">
                <a:latin typeface="Arial"/>
                <a:cs typeface="Arial"/>
              </a:rPr>
              <a:t>Classification</a:t>
            </a:r>
            <a:r>
              <a:rPr lang="en-US" sz="2471" spc="-4" dirty="0">
                <a:latin typeface="Arial MT"/>
                <a:cs typeface="Arial MT"/>
              </a:rPr>
              <a:t>.</a:t>
            </a:r>
            <a:endParaRPr lang="en-US" sz="2471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09600" y="765055"/>
            <a:ext cx="10972800" cy="527291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/>
              <a:t>ConvNets</a:t>
            </a:r>
            <a:r>
              <a:rPr sz="3353" spc="-49" dirty="0"/>
              <a:t> </a:t>
            </a:r>
            <a:r>
              <a:rPr sz="3353" spc="4" dirty="0"/>
              <a:t>vs.</a:t>
            </a:r>
            <a:r>
              <a:rPr sz="3353" spc="-110" dirty="0"/>
              <a:t> </a:t>
            </a:r>
            <a:r>
              <a:rPr sz="3353" spc="-13" dirty="0"/>
              <a:t>Traditional</a:t>
            </a:r>
            <a:r>
              <a:rPr lang="en-US" sz="3353" spc="-22" dirty="0"/>
              <a:t> for </a:t>
            </a:r>
            <a:r>
              <a:rPr sz="3353" dirty="0"/>
              <a:t>C</a:t>
            </a:r>
            <a:r>
              <a:rPr lang="en-US" sz="3353" dirty="0"/>
              <a:t>omputer </a:t>
            </a:r>
            <a:r>
              <a:rPr sz="3353" dirty="0"/>
              <a:t>V</a:t>
            </a:r>
            <a:r>
              <a:rPr lang="en-US" sz="3353" dirty="0"/>
              <a:t>ision</a:t>
            </a:r>
            <a:endParaRPr sz="3353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1D17F94B-9B09-42F3-9F4E-266207F92788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  <p:sp>
        <p:nvSpPr>
          <p:cNvPr id="6" name="object 6"/>
          <p:cNvSpPr txBox="1"/>
          <p:nvPr/>
        </p:nvSpPr>
        <p:spPr>
          <a:xfrm>
            <a:off x="2057400" y="2133600"/>
            <a:ext cx="7315760" cy="3915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endParaRPr sz="2471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627AB2-BDED-5C52-6407-1ECD4C052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13221" marR="63317" indent="-302575">
              <a:spcBef>
                <a:spcPts val="84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Feature</a:t>
            </a:r>
            <a:r>
              <a:rPr lang="en-US" sz="2800" b="1" spc="22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extraction</a:t>
            </a:r>
            <a:r>
              <a:rPr lang="en-US" sz="2800" b="1" spc="22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involves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extracting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higher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level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information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raw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pixel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values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that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capture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distinction </a:t>
            </a:r>
            <a:r>
              <a:rPr lang="en-US" sz="2800" spc="-52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among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lang="en-US" sz="2800" spc="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categories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involved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738507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extraction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 done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unsupervised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manner </a:t>
            </a:r>
            <a:r>
              <a:rPr lang="en-US" sz="2800" spc="-52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wherein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classes</a:t>
            </a:r>
            <a:r>
              <a:rPr lang="en-US" sz="2800" spc="-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of the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image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have</a:t>
            </a:r>
            <a:r>
              <a:rPr lang="en-US" sz="2800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nothing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to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do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with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information</a:t>
            </a:r>
            <a:r>
              <a:rPr lang="en-US" sz="2800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extracted</a:t>
            </a:r>
            <a:r>
              <a:rPr lang="en-US" sz="2800" spc="22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from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pixels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>
                <a:latin typeface="Arial MT"/>
                <a:cs typeface="Arial MT"/>
              </a:rPr>
              <a:t>Some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traditional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widely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features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b="1" i="1" spc="-9" dirty="0">
                <a:solidFill>
                  <a:srgbClr val="C00000"/>
                </a:solidFill>
                <a:latin typeface="Arial"/>
                <a:cs typeface="Arial"/>
              </a:rPr>
              <a:t>HOG, </a:t>
            </a:r>
            <a:r>
              <a:rPr lang="en-US" sz="2800" b="1" i="1" spc="-5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35" dirty="0">
                <a:solidFill>
                  <a:srgbClr val="C00000"/>
                </a:solidFill>
                <a:latin typeface="Arial"/>
                <a:cs typeface="Arial"/>
              </a:rPr>
              <a:t>SIFT,</a:t>
            </a:r>
            <a:r>
              <a:rPr lang="en-US" sz="2800" b="1" i="1" spc="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LBP</a:t>
            </a:r>
            <a:r>
              <a:rPr lang="en-US" sz="2800" b="1" i="1" spc="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etc.</a:t>
            </a:r>
            <a:endParaRPr lang="en-US" sz="2800" dirty="0">
              <a:latin typeface="Arial MT"/>
              <a:cs typeface="Arial MT"/>
            </a:endParaRPr>
          </a:p>
          <a:p>
            <a:pPr marL="313781" marR="258309" indent="-302575" algn="just">
              <a:spcBef>
                <a:spcPts val="468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After the feature is extracted, a classification module is trained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 the images and their associated labels. A few examples of </a:t>
            </a:r>
            <a:r>
              <a:rPr lang="en-US" sz="2800" spc="-52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this module are </a:t>
            </a:r>
            <a:r>
              <a:rPr lang="en-US" sz="2800" b="1" i="1" spc="-13" dirty="0">
                <a:solidFill>
                  <a:srgbClr val="C00000"/>
                </a:solidFill>
                <a:latin typeface="Arial"/>
                <a:cs typeface="Arial"/>
              </a:rPr>
              <a:t>SVM,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Logistic Regression, Random Forest, </a:t>
            </a:r>
            <a:r>
              <a:rPr lang="en-US" sz="2800" b="1" i="1" spc="-529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decision</a:t>
            </a:r>
            <a:r>
              <a:rPr lang="en-US" sz="2800" b="1" i="1" spc="18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b="1" i="1" spc="-4" dirty="0">
                <a:solidFill>
                  <a:srgbClr val="C00000"/>
                </a:solidFill>
                <a:latin typeface="Arial"/>
                <a:cs typeface="Arial"/>
              </a:rPr>
              <a:t>trees</a:t>
            </a:r>
            <a:r>
              <a:rPr lang="en-US" sz="2800" b="1" i="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etc.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13" dirty="0"/>
              <a:t>Traditional</a:t>
            </a:r>
            <a:r>
              <a:rPr sz="3353" spc="-9" dirty="0"/>
              <a:t> </a:t>
            </a:r>
            <a:r>
              <a:rPr sz="3353" spc="-4" dirty="0"/>
              <a:t>Classification</a:t>
            </a:r>
            <a:r>
              <a:rPr sz="3353" spc="-18" dirty="0"/>
              <a:t> </a:t>
            </a:r>
            <a:r>
              <a:rPr sz="3353" spc="-4" dirty="0"/>
              <a:t>Pipeline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4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F44AB3E-5AB5-4E4B-A064-CF0218B01A97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AC80ABE-8570-E933-C430-E1234A42F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13781" marR="195553" indent="-302575">
              <a:spcBef>
                <a:spcPts val="88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The problem </a:t>
            </a:r>
            <a:r>
              <a:rPr lang="en-US" sz="2800" b="1" dirty="0">
                <a:solidFill>
                  <a:srgbClr val="FF0000"/>
                </a:solidFill>
                <a:latin typeface="Arial"/>
                <a:cs typeface="Arial"/>
              </a:rPr>
              <a:t>with </a:t>
            </a: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this pipeline </a:t>
            </a:r>
            <a:r>
              <a:rPr lang="en-US" sz="2800" spc="-4" dirty="0">
                <a:latin typeface="Arial MT"/>
                <a:cs typeface="Arial MT"/>
              </a:rPr>
              <a:t>is that feature extraction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cannot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tweaked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according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classes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and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images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5379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Features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lack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representation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required </a:t>
            </a:r>
            <a:r>
              <a:rPr lang="en-US" sz="2800" dirty="0">
                <a:latin typeface="Arial MT"/>
                <a:cs typeface="Arial MT"/>
              </a:rPr>
              <a:t> 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distinguish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categories</a:t>
            </a:r>
          </a:p>
          <a:p>
            <a:pPr marL="713831" marR="53791" lvl="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Accuracy</a:t>
            </a:r>
            <a:r>
              <a:rPr lang="en-US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of the 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classification</a:t>
            </a:r>
            <a:r>
              <a:rPr lang="en-US" spc="31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model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9" dirty="0">
                <a:latin typeface="Arial MT"/>
                <a:cs typeface="Arial MT"/>
              </a:rPr>
              <a:t>suffers</a:t>
            </a:r>
            <a:r>
              <a:rPr lang="en-US" spc="-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lot,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irrespective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of the type</a:t>
            </a:r>
            <a:r>
              <a:rPr lang="en-US" spc="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of </a:t>
            </a:r>
            <a:r>
              <a:rPr lang="en-US" spc="-574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classification</a:t>
            </a:r>
            <a:r>
              <a:rPr lang="en-US" spc="26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strategy</a:t>
            </a:r>
            <a:r>
              <a:rPr lang="en-US" spc="-1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employed.</a:t>
            </a:r>
            <a:endParaRPr lang="en-US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A </a:t>
            </a:r>
            <a:r>
              <a:rPr lang="en-US" sz="2800" spc="-4" dirty="0">
                <a:latin typeface="Arial MT"/>
                <a:cs typeface="Arial MT"/>
              </a:rPr>
              <a:t>common theme among the state of the art following the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traditional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pipeline</a:t>
            </a:r>
            <a:r>
              <a:rPr lang="en-US" sz="2800" spc="4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has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been,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pick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multiple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feature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extractors</a:t>
            </a:r>
            <a:r>
              <a:rPr lang="en-US" sz="2800" spc="-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club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them inventively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better feature.</a:t>
            </a:r>
            <a:endParaRPr lang="en-US" sz="2800" dirty="0">
              <a:latin typeface="Arial MT"/>
              <a:cs typeface="Arial MT"/>
            </a:endParaRPr>
          </a:p>
          <a:p>
            <a:pPr marL="313781" marR="99738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But this involves </a:t>
            </a:r>
            <a:r>
              <a:rPr lang="en-US" sz="2800" b="1" spc="-4" dirty="0">
                <a:latin typeface="Arial"/>
                <a:cs typeface="Arial"/>
              </a:rPr>
              <a:t>too many heuristics as </a:t>
            </a:r>
            <a:r>
              <a:rPr lang="en-US" sz="2800" b="1" spc="4" dirty="0">
                <a:latin typeface="Arial"/>
                <a:cs typeface="Arial"/>
              </a:rPr>
              <a:t>well </a:t>
            </a:r>
            <a:r>
              <a:rPr lang="en-US" sz="2800" b="1" spc="-4" dirty="0">
                <a:latin typeface="Arial"/>
                <a:cs typeface="Arial"/>
              </a:rPr>
              <a:t>as manual labor </a:t>
            </a:r>
            <a:r>
              <a:rPr lang="en-US" sz="2800" b="1" dirty="0">
                <a:latin typeface="Arial"/>
                <a:cs typeface="Arial"/>
              </a:rPr>
              <a:t>to tweak </a:t>
            </a:r>
            <a:r>
              <a:rPr lang="en-US" sz="2800" b="1" spc="-4" dirty="0">
                <a:latin typeface="Arial"/>
                <a:cs typeface="Arial"/>
              </a:rPr>
              <a:t>parameters according </a:t>
            </a:r>
            <a:r>
              <a:rPr lang="en-US" sz="2800" b="1" dirty="0">
                <a:latin typeface="Arial"/>
                <a:cs typeface="Arial"/>
              </a:rPr>
              <a:t>to </a:t>
            </a:r>
            <a:r>
              <a:rPr lang="en-US" sz="2800" b="1" spc="-4" dirty="0">
                <a:latin typeface="Arial"/>
                <a:cs typeface="Arial"/>
              </a:rPr>
              <a:t>the domain </a:t>
            </a:r>
            <a:r>
              <a:rPr lang="en-US" sz="2800" b="1" dirty="0">
                <a:latin typeface="Arial"/>
                <a:cs typeface="Arial"/>
              </a:rPr>
              <a:t>to </a:t>
            </a:r>
            <a:r>
              <a:rPr lang="en-US" sz="2800" b="1" spc="-578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reach</a:t>
            </a:r>
            <a:r>
              <a:rPr lang="en-US" sz="2800" b="1" spc="4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a</a:t>
            </a:r>
            <a:r>
              <a:rPr lang="en-US" sz="2800" b="1" spc="-9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decent</a:t>
            </a:r>
            <a:r>
              <a:rPr lang="en-US" sz="2800" b="1" spc="9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level of </a:t>
            </a:r>
            <a:r>
              <a:rPr lang="en-US" sz="2800" b="1" spc="-9" dirty="0">
                <a:latin typeface="Arial"/>
                <a:cs typeface="Arial"/>
              </a:rPr>
              <a:t>accuracy</a:t>
            </a:r>
            <a:r>
              <a:rPr lang="en-US" sz="2800" spc="-9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9384" y="599903"/>
            <a:ext cx="10972800" cy="838200"/>
          </a:xfrm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13" dirty="0"/>
              <a:t>Traditional</a:t>
            </a:r>
            <a:r>
              <a:rPr sz="3353" spc="-9" dirty="0"/>
              <a:t> </a:t>
            </a:r>
            <a:r>
              <a:rPr sz="3353" spc="-4" dirty="0"/>
              <a:t>Classification</a:t>
            </a:r>
            <a:r>
              <a:rPr sz="3353" spc="-18" dirty="0"/>
              <a:t> </a:t>
            </a:r>
            <a:r>
              <a:rPr sz="3353" spc="-4" dirty="0"/>
              <a:t>Pipeline</a:t>
            </a:r>
            <a:endParaRPr sz="3353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5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7BF220D8-ECBB-45B5-9C9D-2AF53F98DD77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610E7CE-6F6C-A5FD-5552-BFEF158C6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13781" marR="93014" indent="-302575">
              <a:spcBef>
                <a:spcPts val="88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Another problem </a:t>
            </a:r>
            <a:r>
              <a:rPr lang="en-US" sz="2800" b="1" dirty="0">
                <a:solidFill>
                  <a:srgbClr val="FF0000"/>
                </a:solidFill>
                <a:latin typeface="Arial"/>
                <a:cs typeface="Arial"/>
              </a:rPr>
              <a:t>with </a:t>
            </a:r>
            <a:r>
              <a:rPr lang="en-US" sz="2800" b="1" spc="-4" dirty="0">
                <a:solidFill>
                  <a:srgbClr val="FF0000"/>
                </a:solidFill>
                <a:latin typeface="Arial"/>
                <a:cs typeface="Arial"/>
              </a:rPr>
              <a:t>this method </a:t>
            </a:r>
            <a:r>
              <a:rPr lang="en-US" sz="2800" spc="-4" dirty="0">
                <a:latin typeface="Arial MT"/>
                <a:cs typeface="Arial MT"/>
              </a:rPr>
              <a:t>is that it is completely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different </a:t>
            </a:r>
            <a:r>
              <a:rPr lang="en-US" sz="2800" spc="-4" dirty="0">
                <a:latin typeface="Arial MT"/>
                <a:cs typeface="Arial MT"/>
              </a:rPr>
              <a:t>from how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we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humans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learn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recognize</a:t>
            </a:r>
            <a:r>
              <a:rPr lang="en-US" sz="2800" spc="18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things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Just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after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birth, 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child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incapable</a:t>
            </a:r>
            <a:r>
              <a:rPr lang="en-US" sz="2800" spc="4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perceiving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his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surroundings,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but as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progresses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and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processes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data, he </a:t>
            </a:r>
            <a:r>
              <a:rPr lang="en-US" sz="2800" spc="-578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learns</a:t>
            </a:r>
            <a:r>
              <a:rPr lang="en-US" sz="2800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identify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things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marR="448259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 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philosophy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behind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deep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learning</a:t>
            </a:r>
            <a:r>
              <a:rPr lang="en-US" sz="2800" spc="-4" dirty="0">
                <a:latin typeface="Arial MT"/>
                <a:cs typeface="Arial MT"/>
              </a:rPr>
              <a:t>,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wherein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no </a:t>
            </a:r>
            <a:r>
              <a:rPr lang="en-US" sz="2800" spc="-57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hard-coded</a:t>
            </a:r>
            <a:r>
              <a:rPr lang="en-US" sz="2800" spc="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extractor 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built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in.</a:t>
            </a:r>
            <a:endParaRPr lang="en-US" sz="2800" dirty="0">
              <a:latin typeface="Arial MT"/>
              <a:cs typeface="Arial MT"/>
            </a:endParaRPr>
          </a:p>
          <a:p>
            <a:pPr marL="313781" marR="34180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combines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extraction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and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classification</a:t>
            </a:r>
            <a:r>
              <a:rPr lang="en-US" sz="2800" spc="3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modules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into 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one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integrated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system and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 learns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extract,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discriminating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representations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images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classify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them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based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supervised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data.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13" dirty="0"/>
              <a:t>Traditional</a:t>
            </a:r>
            <a:r>
              <a:rPr sz="3353" spc="-9" dirty="0"/>
              <a:t> </a:t>
            </a:r>
            <a:r>
              <a:rPr sz="3353" spc="-4" dirty="0"/>
              <a:t>Classification</a:t>
            </a:r>
            <a:r>
              <a:rPr sz="3353" spc="-18" dirty="0"/>
              <a:t> </a:t>
            </a:r>
            <a:r>
              <a:rPr sz="3353" spc="-4" dirty="0"/>
              <a:t>Pipeline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6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66CE3ACC-5BF6-4B04-AB3E-1E59B6D6358E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207061D-ED28-9202-0B68-BB72F5294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35932" indent="-302575" algn="just">
              <a:spcBef>
                <a:spcPts val="88"/>
              </a:spcBef>
              <a:buChar char="•"/>
              <a:tabLst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One such system is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multilayer </a:t>
            </a:r>
            <a:r>
              <a:rPr lang="en-US" sz="2800" spc="-4" dirty="0" err="1">
                <a:solidFill>
                  <a:srgbClr val="00B050"/>
                </a:solidFill>
                <a:latin typeface="Arial MT"/>
                <a:cs typeface="Arial MT"/>
              </a:rPr>
              <a:t>perceptrons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 aka neural </a:t>
            </a:r>
            <a:r>
              <a:rPr lang="en-US" sz="2800" spc="-578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networks </a:t>
            </a:r>
            <a:r>
              <a:rPr lang="en-US" sz="2800" spc="-4" dirty="0">
                <a:latin typeface="Arial MT"/>
                <a:cs typeface="Arial MT"/>
              </a:rPr>
              <a:t>which are multiple layers of neurons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densely </a:t>
            </a:r>
            <a:r>
              <a:rPr lang="en-US" sz="2800" spc="-57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connected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each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22" dirty="0">
                <a:latin typeface="Arial MT"/>
                <a:cs typeface="Arial MT"/>
              </a:rPr>
              <a:t>other.</a:t>
            </a:r>
            <a:endParaRPr lang="en-US" sz="2800" dirty="0">
              <a:latin typeface="Arial MT"/>
              <a:cs typeface="Arial MT"/>
            </a:endParaRPr>
          </a:p>
          <a:p>
            <a:pPr marL="313221" marR="28016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A </a:t>
            </a:r>
            <a:r>
              <a:rPr lang="en-US" sz="2800" spc="-4" dirty="0">
                <a:latin typeface="Arial MT"/>
                <a:cs typeface="Arial MT"/>
              </a:rPr>
              <a:t>deep vanilla neural network has such a large number of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parameters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involved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that it 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impossible</a:t>
            </a:r>
            <a:r>
              <a:rPr lang="en-US" sz="2800" spc="31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to</a:t>
            </a:r>
            <a:r>
              <a:rPr lang="en-US" sz="2800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train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such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 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system without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overfitting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model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due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lack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sufficient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number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training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examples.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But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Convolutional</a:t>
            </a:r>
            <a:r>
              <a:rPr lang="en-US" sz="2800" spc="40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Neural</a:t>
            </a:r>
            <a:r>
              <a:rPr lang="en-US" sz="2800" spc="18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Networks(</a:t>
            </a:r>
            <a:r>
              <a:rPr lang="en-US" sz="2800" spc="-4" dirty="0" err="1">
                <a:solidFill>
                  <a:srgbClr val="00B0F0"/>
                </a:solidFill>
                <a:latin typeface="Arial MT"/>
                <a:cs typeface="Arial MT"/>
              </a:rPr>
              <a:t>ConvNets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),</a:t>
            </a:r>
            <a:r>
              <a:rPr lang="en-US" sz="2800" spc="22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task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training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whole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scratch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carried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 using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large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dataset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like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ImageNet.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Automatic</a:t>
            </a:r>
            <a:r>
              <a:rPr sz="3353" spc="-22" dirty="0"/>
              <a:t> </a:t>
            </a:r>
            <a:r>
              <a:rPr sz="3353" spc="-4" dirty="0"/>
              <a:t>Feature</a:t>
            </a:r>
            <a:r>
              <a:rPr sz="3353" spc="-35" dirty="0"/>
              <a:t> </a:t>
            </a:r>
            <a:r>
              <a:rPr sz="3353" spc="-4" dirty="0"/>
              <a:t>Learning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7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5AFE7DD-48BD-402F-92F9-72DB337BCC16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2AD1425-499C-EA04-1CDA-4DF1CBEF8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 reason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behind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is,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sharing</a:t>
            </a:r>
            <a:r>
              <a:rPr lang="en-US" sz="2800" spc="9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of parameters</a:t>
            </a:r>
            <a:r>
              <a:rPr lang="en-US" sz="2800" spc="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between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neurons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sparse connections</a:t>
            </a:r>
            <a:r>
              <a:rPr lang="en-US" sz="2800" spc="22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in</a:t>
            </a:r>
            <a:r>
              <a:rPr lang="en-US" sz="2800" spc="9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convolutional </a:t>
            </a:r>
            <a:r>
              <a:rPr lang="en-US" sz="280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layers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60515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In </a:t>
            </a:r>
            <a:r>
              <a:rPr lang="en-US" sz="2800" spc="-4" dirty="0">
                <a:latin typeface="Arial MT"/>
                <a:cs typeface="Arial MT"/>
              </a:rPr>
              <a:t>the convolution operation, the neurons in one layer are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only locally connected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-4" dirty="0">
                <a:latin typeface="Arial MT"/>
                <a:cs typeface="Arial MT"/>
              </a:rPr>
              <a:t>the input neurons and the set of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parameters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shared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across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2-D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feature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map.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Automatic</a:t>
            </a:r>
            <a:r>
              <a:rPr sz="3353" spc="-22" dirty="0"/>
              <a:t> </a:t>
            </a:r>
            <a:r>
              <a:rPr sz="3353" spc="-4" dirty="0"/>
              <a:t>Feature</a:t>
            </a:r>
            <a:r>
              <a:rPr sz="3353" spc="-35" dirty="0"/>
              <a:t> </a:t>
            </a:r>
            <a:r>
              <a:rPr sz="3353" spc="-4" dirty="0"/>
              <a:t>Learning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8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5869EDE7-F705-4C2A-8001-CDD293B2C0F8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4016321"/>
            <a:ext cx="6019800" cy="23844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F45D36A-5377-265C-DC9C-3CED18022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8382000" cy="4648198"/>
          </a:xfrm>
        </p:spPr>
        <p:txBody>
          <a:bodyPr/>
          <a:lstStyle/>
          <a:p>
            <a:r>
              <a:rPr lang="en-US" sz="2800" spc="-4" dirty="0">
                <a:latin typeface="Arial MT"/>
                <a:cs typeface="Arial MT"/>
              </a:rPr>
              <a:t>Almost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CNN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follow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same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general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design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principles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successively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applying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convolutional </a:t>
            </a:r>
            <a:r>
              <a:rPr lang="en-US" sz="2800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layers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input.</a:t>
            </a:r>
          </a:p>
          <a:p>
            <a:r>
              <a:rPr lang="en-US" spc="-4" dirty="0">
                <a:latin typeface="Arial MT"/>
                <a:cs typeface="Arial MT"/>
              </a:rPr>
              <a:t>P</a:t>
            </a:r>
            <a:r>
              <a:rPr lang="en-US" sz="2800" spc="-4" dirty="0">
                <a:latin typeface="Arial MT"/>
                <a:cs typeface="Arial MT"/>
              </a:rPr>
              <a:t>eriodically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solidFill>
                  <a:srgbClr val="7030A0"/>
                </a:solidFill>
                <a:latin typeface="Arial MT"/>
                <a:cs typeface="Arial MT"/>
              </a:rPr>
              <a:t>downsampling</a:t>
            </a:r>
            <a:r>
              <a:rPr lang="en-US" sz="2800" spc="26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the</a:t>
            </a:r>
            <a:r>
              <a:rPr lang="en-US" sz="2800" spc="-13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spatial</a:t>
            </a:r>
            <a:r>
              <a:rPr lang="en-US" sz="2800" spc="-9" dirty="0">
                <a:solidFill>
                  <a:srgbClr val="7030A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7030A0"/>
                </a:solidFill>
                <a:latin typeface="Arial MT"/>
                <a:cs typeface="Arial MT"/>
              </a:rPr>
              <a:t>dimension</a:t>
            </a:r>
            <a:r>
              <a:rPr lang="en-US" sz="2800" spc="-4" dirty="0">
                <a:latin typeface="Arial MT"/>
                <a:cs typeface="Arial MT"/>
              </a:rPr>
              <a:t>s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while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increasing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number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of </a:t>
            </a:r>
            <a:r>
              <a:rPr lang="en-US" sz="2800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feature</a:t>
            </a:r>
            <a:r>
              <a:rPr lang="en-US" sz="2800" spc="-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maps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/>
              <a:t>ConvNet</a:t>
            </a:r>
            <a:r>
              <a:rPr sz="3353" spc="-229" dirty="0"/>
              <a:t> </a:t>
            </a:r>
            <a:r>
              <a:rPr sz="3353" spc="-4" dirty="0"/>
              <a:t>Architectures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9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F8C982E-8B60-4B03-A54D-65C7C77B9589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3127" y="1447801"/>
            <a:ext cx="2251714" cy="44203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FCC46DC-C235-F238-7CFB-7A8673B9FB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While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classic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were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comprised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simply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stacked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convolutional</a:t>
            </a:r>
            <a:r>
              <a:rPr lang="en-US" sz="2800" spc="4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layers</a:t>
            </a:r>
            <a:r>
              <a:rPr lang="en-US" sz="2800" spc="-4" dirty="0">
                <a:latin typeface="Arial MT"/>
                <a:cs typeface="Arial MT"/>
              </a:rPr>
              <a:t>,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modern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explore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new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innovative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ways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constructing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3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way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allows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more</a:t>
            </a:r>
            <a:r>
              <a:rPr lang="en-US" sz="2800" spc="-9" dirty="0">
                <a:solidFill>
                  <a:srgbClr val="FF0000"/>
                </a:solidFill>
                <a:latin typeface="Arial MT"/>
                <a:cs typeface="Arial MT"/>
              </a:rPr>
              <a:t> efficient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 learning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98057" indent="-302575">
              <a:buFont typeface="Arial MT"/>
              <a:buChar char="•"/>
              <a:tabLst>
                <a:tab pos="372615" algn="l"/>
                <a:tab pos="373175" algn="l"/>
              </a:tabLst>
            </a:pPr>
            <a:r>
              <a:rPr lang="en-US" sz="1800" dirty="0"/>
              <a:t>	</a:t>
            </a:r>
            <a:r>
              <a:rPr lang="en-US" sz="2800" spc="-4" dirty="0">
                <a:latin typeface="Arial MT"/>
                <a:cs typeface="Arial MT"/>
              </a:rPr>
              <a:t>Almost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these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based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repeatable </a:t>
            </a:r>
            <a:r>
              <a:rPr lang="en-US" sz="2800" spc="-578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unit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throughout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/>
              <a:t>ConvNet</a:t>
            </a:r>
            <a:r>
              <a:rPr sz="3353" spc="-229" dirty="0"/>
              <a:t> </a:t>
            </a:r>
            <a:r>
              <a:rPr sz="3353" spc="-4" dirty="0"/>
              <a:t>Architectures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10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D2FFE07-A414-46D9-8881-A1887DABEFFE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8D9F76-561E-72BE-E04A-E45C3E4A82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471128"/>
            <a:ext cx="8082301" cy="294847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1B710-28D8-58D6-08BA-F58DD07A4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4B2E3E-410A-5FAE-7C2E-566097BC5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C5BBB42-A868-EDF0-0144-23F4F3FAB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LetNet-1998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C8AC5D-CE04-9767-061A-A3E78C25A9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488"/>
          <a:stretch/>
        </p:blipFill>
        <p:spPr>
          <a:xfrm>
            <a:off x="990600" y="4572000"/>
            <a:ext cx="8916173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05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7EB2117-A187-FE0F-5C07-3775A5A57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4" dirty="0">
                <a:latin typeface="Arial MT"/>
                <a:cs typeface="Arial MT"/>
              </a:rPr>
              <a:t>Yann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latin typeface="Arial MT"/>
                <a:cs typeface="Arial MT"/>
              </a:rPr>
              <a:t>Lecun's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LeNet-5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model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was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developed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1998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identify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handwritten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digits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zip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code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recognition</a:t>
            </a:r>
            <a:r>
              <a:rPr lang="en-US" sz="2800" spc="26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postal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service.</a:t>
            </a:r>
            <a:endParaRPr lang="en-US" sz="2800" dirty="0">
              <a:latin typeface="Arial MT"/>
              <a:cs typeface="Arial MT"/>
            </a:endParaRPr>
          </a:p>
          <a:p>
            <a:pPr marL="313221" marR="46899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pioneering</a:t>
            </a:r>
            <a:r>
              <a:rPr lang="en-US" sz="2800" spc="4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largely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introduced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convolutional </a:t>
            </a:r>
            <a:r>
              <a:rPr lang="en-US" sz="2800" spc="-57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neural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network</a:t>
            </a:r>
            <a:r>
              <a:rPr lang="en-US" sz="2800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as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know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31" dirty="0">
                <a:latin typeface="Arial MT"/>
                <a:cs typeface="Arial MT"/>
              </a:rPr>
              <a:t>today.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LeNet-5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12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3086BD1D-05B0-439B-8DBD-170EC0C3CCB4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787C31-A98D-BF57-3376-44BC83A0F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657600"/>
            <a:ext cx="785812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678E437-B994-948A-5154-264B42613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4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subset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previous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layer's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channels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 each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filter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reduce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computation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force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 break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symmetry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network.</a:t>
            </a:r>
            <a:r>
              <a:rPr lang="en-US" sz="2800" spc="-35" dirty="0">
                <a:latin typeface="Arial MT"/>
                <a:cs typeface="Arial MT"/>
              </a:rPr>
              <a:t> </a:t>
            </a:r>
          </a:p>
          <a:p>
            <a:pPr marL="313221" marR="4483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subsampling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layers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 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form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average</a:t>
            </a:r>
            <a:r>
              <a:rPr lang="en-US" sz="2800" spc="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pooling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Parameters: </a:t>
            </a:r>
            <a:r>
              <a:rPr lang="en-US" sz="2800" spc="-4" dirty="0">
                <a:latin typeface="Arial MT"/>
                <a:cs typeface="Arial MT"/>
              </a:rPr>
              <a:t>60,000</a:t>
            </a:r>
            <a:endParaRPr lang="en-US" sz="2800" dirty="0">
              <a:latin typeface="Arial MT"/>
              <a:cs typeface="Arial MT"/>
            </a:endParaRPr>
          </a:p>
          <a:p>
            <a:pPr marL="313221" marR="652777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Paper:</a:t>
            </a:r>
            <a:r>
              <a:rPr lang="en-US" sz="2800" b="1" dirty="0">
                <a:solidFill>
                  <a:srgbClr val="009999"/>
                </a:solidFill>
                <a:latin typeface="Arial"/>
                <a:cs typeface="Arial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Gradient-based</a:t>
            </a:r>
            <a:r>
              <a:rPr lang="en-US" sz="2800" u="heavy" spc="13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learning</a:t>
            </a:r>
            <a:r>
              <a:rPr lang="en-US" sz="2800" u="heavy" spc="18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applied</a:t>
            </a:r>
            <a:r>
              <a:rPr lang="en-US" sz="2800" u="heavy" spc="22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to</a:t>
            </a:r>
            <a:r>
              <a:rPr lang="en-US" sz="2800" u="heavy" spc="-13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document </a:t>
            </a:r>
            <a:r>
              <a:rPr lang="en-US" sz="2800" spc="-578" dirty="0">
                <a:solidFill>
                  <a:srgbClr val="009999"/>
                </a:solidFill>
                <a:latin typeface="Arial MT"/>
                <a:cs typeface="Arial MT"/>
              </a:rPr>
              <a:t> </a:t>
            </a:r>
            <a:r>
              <a:rPr lang="en-US" sz="2800" u="heavy" spc="-4" dirty="0">
                <a:solidFill>
                  <a:srgbClr val="009999"/>
                </a:solidFill>
                <a:uFill>
                  <a:solidFill>
                    <a:srgbClr val="009898"/>
                  </a:solidFill>
                </a:uFill>
                <a:latin typeface="Arial MT"/>
                <a:cs typeface="Arial MT"/>
              </a:rPr>
              <a:t>recognition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LeNet-5</a:t>
            </a:r>
            <a:endParaRPr sz="3353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13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934C6F0B-E2BD-4A1F-816A-81F004B688A7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3C01B8C-294B-ED08-619D-B1DD37165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2AB5263-26BB-4BEC-9A05-8434C14F4307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14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LeNet-5:</a:t>
            </a:r>
            <a:r>
              <a:rPr sz="3353" spc="-40" dirty="0"/>
              <a:t> </a:t>
            </a:r>
            <a:r>
              <a:rPr sz="3353" spc="-4" dirty="0"/>
              <a:t>Reading </a:t>
            </a:r>
            <a:r>
              <a:rPr sz="3353" dirty="0"/>
              <a:t>a</a:t>
            </a:r>
            <a:r>
              <a:rPr sz="3353" spc="-26" dirty="0"/>
              <a:t> </a:t>
            </a:r>
            <a:r>
              <a:rPr sz="3353" dirty="0"/>
              <a:t>Check</a:t>
            </a:r>
            <a:endParaRPr sz="3353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0800" y="1856432"/>
            <a:ext cx="6438899" cy="401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01E2F-26E9-E96A-C777-167F8F9A6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6790F-E203-84B9-5239-19325418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E31F49-8409-7F13-6232-21E32E58D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D87F0A8-62CC-A5CE-4E97-2CC28C8E1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3CD499-C6E8-5971-39CA-0FFBCE54F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627239"/>
            <a:ext cx="7086600" cy="429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407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546B8B-6A60-A3F6-978C-F59E13D52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1662386"/>
            <a:ext cx="8305800" cy="480478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B9CDE-C3FC-F0BF-336C-18B875DA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2A8EE-67CF-C6AE-F63E-1E5E1565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FFE8E2-7C7B-A795-D778-323BBE628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</p:spTree>
    <p:extLst>
      <p:ext uri="{BB962C8B-B14F-4D97-AF65-F5344CB8AC3E}">
        <p14:creationId xmlns:p14="http://schemas.microsoft.com/office/powerpoint/2010/main" val="4153578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13C134B-9645-07BC-8879-D55064FC8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7400" y="1752600"/>
            <a:ext cx="6328882" cy="25146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D3FA2A-3E7E-D6EC-55EE-250F9C11A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D572E-5F8D-75C3-1C17-6B8339AB2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EE78BF3-5172-7D9A-E1AB-ECF2C022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</p:spTree>
    <p:extLst>
      <p:ext uri="{BB962C8B-B14F-4D97-AF65-F5344CB8AC3E}">
        <p14:creationId xmlns:p14="http://schemas.microsoft.com/office/powerpoint/2010/main" val="952315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6D2AD-E2DF-A0AF-595A-7763775E8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BBFB-C6FD-90FF-6861-9F1C3425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A5ED636-04E1-5C5E-0EF2-C7067B02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LeNet-5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397BC0-23E5-546B-6342-216E13B134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382" y="1600200"/>
            <a:ext cx="9651236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101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8F88858-C03E-374D-F91A-E0176AC16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221" marR="166977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 err="1">
                <a:latin typeface="Arial MT"/>
                <a:cs typeface="Arial MT"/>
              </a:rPr>
              <a:t>AlexNet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was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developed</a:t>
            </a:r>
            <a:r>
              <a:rPr lang="en-US" sz="2800" spc="31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</a:t>
            </a:r>
            <a:r>
              <a:rPr lang="en-US" sz="2800" spc="-11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Alex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latin typeface="Arial MT"/>
                <a:cs typeface="Arial MT"/>
              </a:rPr>
              <a:t>Krizhevsky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et al.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2012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compete 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50"/>
                </a:solidFill>
                <a:latin typeface="Arial MT"/>
                <a:cs typeface="Arial MT"/>
              </a:rPr>
              <a:t>ImageNet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competition.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 general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quite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similar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LeNet-5,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although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model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considerably</a:t>
            </a:r>
            <a:r>
              <a:rPr lang="en-US" sz="2800" spc="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22" dirty="0">
                <a:solidFill>
                  <a:srgbClr val="FF0000"/>
                </a:solidFill>
                <a:latin typeface="Arial MT"/>
                <a:cs typeface="Arial MT"/>
              </a:rPr>
              <a:t>larger</a:t>
            </a:r>
            <a:r>
              <a:rPr lang="en-US" sz="2800" spc="-22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19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4F22577E-3087-4006-839D-812E32E931CB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5832" y="3785202"/>
            <a:ext cx="7122968" cy="24933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7CCE06B-DC3F-3A0E-B6EF-EB056D035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Download Paper</a:t>
            </a:r>
            <a:endParaRPr lang="en-US"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DF277048-DF67-46B5-A1B0-198F8F12DFC9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20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87443A-7F80-C1DA-BAEF-8004A693E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2819400"/>
            <a:ext cx="8641142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758B18D-8182-76A8-F3FA-BD335085A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B7F1FC9-176C-4C3D-98E9-ADF5920C76C6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21</a:t>
            </a:fld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1512793"/>
            <a:ext cx="6477000" cy="47356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41EE27C-EB8A-7C40-3739-B0B623863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22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992CB0C-CCC1-41BB-8363-3076E23750C5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3136" y="1783976"/>
            <a:ext cx="8743728" cy="329004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62400" y="5562600"/>
            <a:ext cx="3505200" cy="25567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588" spc="-4" dirty="0">
                <a:latin typeface="Arial MT"/>
                <a:cs typeface="Arial MT"/>
              </a:rPr>
              <a:t>Similarities</a:t>
            </a:r>
            <a:r>
              <a:rPr sz="1588" spc="13" dirty="0">
                <a:latin typeface="Arial MT"/>
                <a:cs typeface="Arial MT"/>
              </a:rPr>
              <a:t> </a:t>
            </a:r>
            <a:r>
              <a:rPr sz="1588" spc="-13" dirty="0">
                <a:latin typeface="Arial MT"/>
                <a:cs typeface="Arial MT"/>
              </a:rPr>
              <a:t>with</a:t>
            </a:r>
            <a:r>
              <a:rPr sz="1588" spc="22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LeNet</a:t>
            </a:r>
            <a:r>
              <a:rPr sz="1588" spc="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but much</a:t>
            </a:r>
            <a:r>
              <a:rPr sz="1588" spc="-9" dirty="0">
                <a:latin typeface="Arial MT"/>
                <a:cs typeface="Arial MT"/>
              </a:rPr>
              <a:t> </a:t>
            </a:r>
            <a:r>
              <a:rPr sz="1588" spc="-4" dirty="0">
                <a:latin typeface="Arial MT"/>
                <a:cs typeface="Arial MT"/>
              </a:rPr>
              <a:t>bigger</a:t>
            </a:r>
            <a:endParaRPr sz="1588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DE7D9F2-0335-241D-ADEB-C1BB2B557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515600" cy="4495799"/>
          </a:xfrm>
        </p:spPr>
        <p:txBody>
          <a:bodyPr>
            <a:normAutofit/>
          </a:bodyPr>
          <a:lstStyle/>
          <a:p>
            <a:pPr marL="313221" marR="44826" indent="-302575">
              <a:spcBef>
                <a:spcPts val="84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starts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227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x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227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x 3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images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next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 </a:t>
            </a:r>
            <a:r>
              <a:rPr lang="en-US" sz="2800" spc="-52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applies</a:t>
            </a:r>
            <a:r>
              <a:rPr lang="en-US" sz="2800" spc="-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96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of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79" dirty="0">
                <a:solidFill>
                  <a:srgbClr val="FF0000"/>
                </a:solidFill>
                <a:latin typeface="Arial MT"/>
                <a:cs typeface="Arial MT"/>
              </a:rPr>
              <a:t>11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x</a:t>
            </a:r>
            <a:r>
              <a:rPr lang="en-US" sz="2800" spc="4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79" dirty="0">
                <a:solidFill>
                  <a:srgbClr val="FF0000"/>
                </a:solidFill>
                <a:latin typeface="Arial MT"/>
                <a:cs typeface="Arial MT"/>
              </a:rPr>
              <a:t>11</a:t>
            </a:r>
            <a:r>
              <a:rPr lang="en-US" sz="2800" spc="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filter</a:t>
            </a:r>
            <a:r>
              <a:rPr lang="en-US" sz="2800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stride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4.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output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volume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reduce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dimension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55</a:t>
            </a:r>
            <a:r>
              <a:rPr lang="en-US" sz="2800" spc="4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x</a:t>
            </a:r>
            <a:r>
              <a:rPr lang="en-US" sz="2800" spc="4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55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9" dirty="0">
                <a:latin typeface="Arial MT"/>
                <a:cs typeface="Arial MT"/>
              </a:rPr>
              <a:t>Next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layer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 a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70C0"/>
                </a:solidFill>
                <a:latin typeface="Arial MT"/>
                <a:cs typeface="Arial MT"/>
              </a:rPr>
              <a:t>pooling layer</a:t>
            </a:r>
            <a:r>
              <a:rPr lang="en-US" sz="2800" spc="13" dirty="0">
                <a:solidFill>
                  <a:srgbClr val="0070C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applies </a:t>
            </a:r>
            <a:r>
              <a:rPr lang="en-US" sz="2800" spc="-9" dirty="0">
                <a:latin typeface="Arial MT"/>
                <a:cs typeface="Arial MT"/>
              </a:rPr>
              <a:t>max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pool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3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x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3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filter </a:t>
            </a:r>
            <a:r>
              <a:rPr lang="en-US" sz="2800" spc="-52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along 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stride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2.</a:t>
            </a:r>
            <a:endParaRPr lang="en-US" sz="2800" dirty="0">
              <a:latin typeface="Arial MT"/>
              <a:cs typeface="Arial MT"/>
            </a:endParaRPr>
          </a:p>
          <a:p>
            <a:pPr marL="313221" marR="112065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goes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finally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reaches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FC layer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with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9216</a:t>
            </a:r>
            <a:r>
              <a:rPr lang="en-US" sz="2800" spc="18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parameter</a:t>
            </a:r>
            <a:r>
              <a:rPr lang="en-US" sz="2800" spc="22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 </a:t>
            </a:r>
            <a:r>
              <a:rPr lang="en-US" sz="2800" spc="-525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next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two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FC layers</a:t>
            </a:r>
            <a:r>
              <a:rPr lang="en-US" sz="2800" spc="13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with</a:t>
            </a:r>
            <a:r>
              <a:rPr lang="en-US" sz="2800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4096</a:t>
            </a:r>
            <a:r>
              <a:rPr lang="en-US" sz="2800" spc="13" dirty="0">
                <a:solidFill>
                  <a:srgbClr val="92D05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92D050"/>
                </a:solidFill>
                <a:latin typeface="Arial MT"/>
                <a:cs typeface="Arial MT"/>
              </a:rPr>
              <a:t>node each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463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At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end,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solidFill>
                  <a:srgbClr val="FF0000"/>
                </a:solidFill>
                <a:latin typeface="Arial MT"/>
                <a:cs typeface="Arial MT"/>
              </a:rPr>
              <a:t>Softmax</a:t>
            </a:r>
            <a:r>
              <a:rPr lang="en-US" sz="2800" spc="18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lang="en-US" sz="280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1000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output</a:t>
            </a:r>
            <a:r>
              <a:rPr lang="en-US" sz="2800" dirty="0">
                <a:latin typeface="Arial MT"/>
                <a:cs typeface="Arial MT"/>
              </a:rPr>
              <a:t> classes.</a:t>
            </a:r>
          </a:p>
          <a:p>
            <a:pPr marL="313781" indent="-302575">
              <a:spcBef>
                <a:spcPts val="46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Parameters: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60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Million.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23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38BB6CCD-6EB7-4C19-946C-56B8213146E9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7E8002-2296-7A45-D9F7-304446D88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924800" cy="4525963"/>
          </a:xfrm>
        </p:spPr>
        <p:txBody>
          <a:bodyPr/>
          <a:lstStyle/>
          <a:p>
            <a:pPr marL="313221" marR="633726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uses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solidFill>
                  <a:srgbClr val="FF0000"/>
                </a:solidFill>
                <a:latin typeface="Arial MT"/>
                <a:cs typeface="Arial MT"/>
              </a:rPr>
              <a:t>ReLU</a:t>
            </a:r>
            <a:r>
              <a:rPr lang="en-US" sz="2800" spc="9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activation</a:t>
            </a:r>
            <a:r>
              <a:rPr lang="en-US" sz="2800" spc="22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function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instead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Sigmoid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or tanh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functions</a:t>
            </a:r>
            <a:r>
              <a:rPr lang="en-US" sz="2800" dirty="0">
                <a:latin typeface="Arial MT"/>
                <a:cs typeface="Arial MT"/>
              </a:rPr>
              <a:t> (In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 err="1">
                <a:latin typeface="Arial MT"/>
                <a:cs typeface="Arial MT"/>
              </a:rPr>
              <a:t>LeNet</a:t>
            </a:r>
            <a:r>
              <a:rPr lang="en-US" sz="2800" spc="-4" dirty="0">
                <a:latin typeface="Arial MT"/>
                <a:cs typeface="Arial MT"/>
              </a:rPr>
              <a:t>).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Font typeface="Arial MT"/>
              <a:buChar char="•"/>
              <a:tabLst>
                <a:tab pos="313221" algn="l"/>
                <a:tab pos="313781" algn="l"/>
              </a:tabLst>
            </a:pPr>
            <a:r>
              <a:rPr lang="en-US" sz="2800" b="1" spc="-4" dirty="0">
                <a:latin typeface="Arial"/>
                <a:cs typeface="Arial"/>
              </a:rPr>
              <a:t>The advantage of the </a:t>
            </a:r>
            <a:r>
              <a:rPr lang="en-US" sz="2800" b="1" spc="-4" dirty="0" err="1">
                <a:latin typeface="Arial"/>
                <a:cs typeface="Arial"/>
              </a:rPr>
              <a:t>ReLu</a:t>
            </a:r>
            <a:r>
              <a:rPr lang="en-US" sz="2800" b="1" spc="-4" dirty="0">
                <a:latin typeface="Arial"/>
                <a:cs typeface="Arial"/>
              </a:rPr>
              <a:t> over sigmoid </a:t>
            </a:r>
            <a:r>
              <a:rPr lang="en-US" sz="2800" b="1" dirty="0">
                <a:latin typeface="Arial"/>
                <a:cs typeface="Arial"/>
              </a:rPr>
              <a:t>is </a:t>
            </a:r>
            <a:r>
              <a:rPr lang="en-US" sz="2800" b="1" spc="-4" dirty="0">
                <a:latin typeface="Arial"/>
                <a:cs typeface="Arial"/>
              </a:rPr>
              <a:t>that </a:t>
            </a:r>
            <a:r>
              <a:rPr lang="en-US" sz="2800" b="1" dirty="0">
                <a:latin typeface="Arial"/>
                <a:cs typeface="Arial"/>
              </a:rPr>
              <a:t>it </a:t>
            </a:r>
            <a:r>
              <a:rPr lang="en-US" sz="2800" b="1" spc="-4" dirty="0">
                <a:latin typeface="Arial"/>
                <a:cs typeface="Arial"/>
              </a:rPr>
              <a:t>trains </a:t>
            </a:r>
            <a:r>
              <a:rPr lang="en-US" sz="2800" b="1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much</a:t>
            </a:r>
            <a:r>
              <a:rPr lang="en-US" sz="2800" b="1" dirty="0">
                <a:latin typeface="Arial"/>
                <a:cs typeface="Arial"/>
              </a:rPr>
              <a:t> </a:t>
            </a:r>
            <a:r>
              <a:rPr lang="en-US" sz="2800" b="1" spc="-4" dirty="0">
                <a:latin typeface="Arial"/>
                <a:cs typeface="Arial"/>
              </a:rPr>
              <a:t>faster</a:t>
            </a:r>
            <a:r>
              <a:rPr lang="en-US" sz="2800" b="1" spc="4" dirty="0">
                <a:latin typeface="Arial"/>
                <a:cs typeface="Arial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than 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latter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because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derivative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of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sigmoid </a:t>
            </a:r>
            <a:r>
              <a:rPr lang="en-US" sz="2800" spc="-578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becomes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very small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saturating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region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therefore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updates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weights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almost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vanish</a:t>
            </a:r>
            <a:endParaRPr lang="en-US" sz="2800" dirty="0">
              <a:latin typeface="Arial MT"/>
              <a:cs typeface="Arial MT"/>
            </a:endParaRPr>
          </a:p>
          <a:p>
            <a:pPr marL="31378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speed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 more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5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times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faster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same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accuracy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24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BDB3C70F-597C-42E7-AE26-4109E193E3D0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4134B8-B682-6F92-3BAC-91837BB41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048000"/>
            <a:ext cx="3671236" cy="1752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50C364-C9E8-726C-33E9-CFE944385848}"/>
              </a:ext>
            </a:extLst>
          </p:cNvPr>
          <p:cNvSpPr txBox="1"/>
          <p:nvPr/>
        </p:nvSpPr>
        <p:spPr>
          <a:xfrm>
            <a:off x="4267200" y="6045744"/>
            <a:ext cx="75438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Dying </a:t>
            </a:r>
            <a:r>
              <a:rPr lang="en-US" dirty="0" err="1">
                <a:solidFill>
                  <a:srgbClr val="FF0000"/>
                </a:solidFill>
              </a:rPr>
              <a:t>ReLU</a:t>
            </a:r>
            <a:r>
              <a:rPr lang="en-US" dirty="0">
                <a:solidFill>
                  <a:srgbClr val="FF0000"/>
                </a:solidFill>
              </a:rPr>
              <a:t> problem</a:t>
            </a:r>
            <a:r>
              <a:rPr lang="en-US" dirty="0"/>
              <a:t>: If a neuron is inactive (𝑥≤0x≤0), its gradient becomes zero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609600" y="1600201"/>
            <a:ext cx="10972800" cy="22298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22484" marR="4483" indent="-302575">
              <a:spcBef>
                <a:spcPts val="88"/>
              </a:spcBef>
              <a:tabLst>
                <a:tab pos="423045" algn="l"/>
                <a:tab pos="423604" algn="l"/>
              </a:tabLst>
            </a:pPr>
            <a:r>
              <a:rPr spc="-4" dirty="0"/>
              <a:t>Another</a:t>
            </a:r>
            <a:r>
              <a:rPr spc="9" dirty="0"/>
              <a:t> </a:t>
            </a:r>
            <a:r>
              <a:rPr spc="-4" dirty="0"/>
              <a:t>problem</a:t>
            </a:r>
            <a:r>
              <a:rPr spc="18" dirty="0"/>
              <a:t> </a:t>
            </a:r>
            <a:r>
              <a:rPr spc="-4" dirty="0"/>
              <a:t>that this</a:t>
            </a:r>
            <a:r>
              <a:rPr spc="4" dirty="0"/>
              <a:t> </a:t>
            </a:r>
            <a:r>
              <a:rPr spc="-4" dirty="0"/>
              <a:t>architecture</a:t>
            </a:r>
            <a:r>
              <a:rPr dirty="0"/>
              <a:t> </a:t>
            </a:r>
            <a:r>
              <a:rPr spc="-4" dirty="0"/>
              <a:t>solved</a:t>
            </a:r>
            <a:r>
              <a:rPr spc="9" dirty="0"/>
              <a:t> </a:t>
            </a:r>
            <a:r>
              <a:rPr spc="-4" dirty="0"/>
              <a:t>was</a:t>
            </a:r>
            <a:r>
              <a:rPr spc="13" dirty="0"/>
              <a:t> </a:t>
            </a:r>
            <a:r>
              <a:rPr spc="-4" dirty="0"/>
              <a:t>reducing </a:t>
            </a:r>
            <a:r>
              <a:rPr dirty="0"/>
              <a:t> </a:t>
            </a:r>
            <a:r>
              <a:rPr spc="-4" dirty="0"/>
              <a:t>the</a:t>
            </a:r>
            <a:r>
              <a:rPr spc="-9" dirty="0"/>
              <a:t> </a:t>
            </a:r>
            <a:r>
              <a:rPr b="1" spc="-4" dirty="0">
                <a:latin typeface="Arial"/>
                <a:cs typeface="Arial"/>
              </a:rPr>
              <a:t>over-fitting</a:t>
            </a:r>
            <a:r>
              <a:rPr b="1" spc="-31" dirty="0">
                <a:latin typeface="Arial"/>
                <a:cs typeface="Arial"/>
              </a:rPr>
              <a:t> </a:t>
            </a:r>
            <a:r>
              <a:rPr spc="-4" dirty="0"/>
              <a:t>by</a:t>
            </a:r>
            <a:r>
              <a:rPr spc="9" dirty="0"/>
              <a:t> </a:t>
            </a:r>
            <a:r>
              <a:rPr spc="-4" dirty="0"/>
              <a:t>using</a:t>
            </a:r>
            <a:r>
              <a:rPr spc="9" dirty="0"/>
              <a:t> </a:t>
            </a:r>
            <a:r>
              <a:rPr spc="-4" dirty="0"/>
              <a:t>a</a:t>
            </a:r>
            <a:r>
              <a:rPr spc="4" dirty="0"/>
              <a:t> </a:t>
            </a:r>
            <a:r>
              <a:rPr spc="-4" dirty="0">
                <a:solidFill>
                  <a:srgbClr val="FFC000"/>
                </a:solidFill>
              </a:rPr>
              <a:t>Dropout</a:t>
            </a:r>
            <a:r>
              <a:rPr spc="18" dirty="0">
                <a:solidFill>
                  <a:srgbClr val="FFC000"/>
                </a:solidFill>
              </a:rPr>
              <a:t> </a:t>
            </a:r>
            <a:r>
              <a:rPr spc="-4" dirty="0">
                <a:solidFill>
                  <a:srgbClr val="FFC000"/>
                </a:solidFill>
              </a:rPr>
              <a:t>layer</a:t>
            </a:r>
            <a:r>
              <a:rPr spc="13" dirty="0">
                <a:solidFill>
                  <a:srgbClr val="FFC000"/>
                </a:solidFill>
              </a:rPr>
              <a:t> </a:t>
            </a:r>
            <a:r>
              <a:rPr spc="-4" dirty="0">
                <a:solidFill>
                  <a:srgbClr val="FFC000"/>
                </a:solidFill>
              </a:rPr>
              <a:t>after every FC</a:t>
            </a:r>
            <a:r>
              <a:rPr dirty="0">
                <a:solidFill>
                  <a:srgbClr val="FFC000"/>
                </a:solidFill>
              </a:rPr>
              <a:t> </a:t>
            </a:r>
            <a:r>
              <a:rPr spc="-22" dirty="0">
                <a:solidFill>
                  <a:srgbClr val="FFC000"/>
                </a:solidFill>
              </a:rPr>
              <a:t>layer</a:t>
            </a:r>
            <a:r>
              <a:rPr spc="-22" dirty="0"/>
              <a:t>.</a:t>
            </a:r>
          </a:p>
          <a:p>
            <a:pPr marL="422484" marR="303696" indent="-302575">
              <a:spcBef>
                <a:spcPts val="507"/>
              </a:spcBef>
              <a:tabLst>
                <a:tab pos="423045" algn="l"/>
                <a:tab pos="423604" algn="l"/>
              </a:tabLst>
            </a:pPr>
            <a:r>
              <a:rPr spc="-4" dirty="0">
                <a:solidFill>
                  <a:srgbClr val="FF0000"/>
                </a:solidFill>
              </a:rPr>
              <a:t>Dropout</a:t>
            </a:r>
            <a:r>
              <a:rPr spc="13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layer</a:t>
            </a:r>
            <a:r>
              <a:rPr spc="9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has</a:t>
            </a:r>
            <a:r>
              <a:rPr spc="4" dirty="0">
                <a:solidFill>
                  <a:srgbClr val="FF0000"/>
                </a:solidFill>
              </a:rPr>
              <a:t> </a:t>
            </a:r>
            <a:r>
              <a:rPr spc="-4" dirty="0">
                <a:solidFill>
                  <a:srgbClr val="FF0000"/>
                </a:solidFill>
              </a:rPr>
              <a:t>a </a:t>
            </a:r>
            <a:r>
              <a:rPr spc="-13" dirty="0">
                <a:solidFill>
                  <a:srgbClr val="FF0000"/>
                </a:solidFill>
              </a:rPr>
              <a:t>probability,</a:t>
            </a:r>
            <a:r>
              <a:rPr b="1" spc="-13" dirty="0">
                <a:solidFill>
                  <a:srgbClr val="FF0000"/>
                </a:solidFill>
                <a:latin typeface="Arial"/>
                <a:cs typeface="Arial"/>
              </a:rPr>
              <a:t>(p)</a:t>
            </a:r>
            <a:r>
              <a:rPr spc="-13" dirty="0">
                <a:solidFill>
                  <a:srgbClr val="FF0000"/>
                </a:solidFill>
              </a:rPr>
              <a:t>,</a:t>
            </a:r>
            <a:r>
              <a:rPr spc="18" dirty="0">
                <a:solidFill>
                  <a:srgbClr val="FF0000"/>
                </a:solidFill>
              </a:rPr>
              <a:t> </a:t>
            </a:r>
            <a:r>
              <a:rPr spc="-4" dirty="0"/>
              <a:t>associated</a:t>
            </a:r>
            <a:r>
              <a:rPr spc="9" dirty="0"/>
              <a:t> </a:t>
            </a:r>
            <a:r>
              <a:rPr spc="-4" dirty="0"/>
              <a:t>with</a:t>
            </a:r>
            <a:r>
              <a:rPr spc="4" dirty="0"/>
              <a:t> </a:t>
            </a:r>
            <a:r>
              <a:rPr spc="-4" dirty="0"/>
              <a:t>it and</a:t>
            </a:r>
            <a:r>
              <a:rPr dirty="0"/>
              <a:t> </a:t>
            </a:r>
            <a:r>
              <a:rPr spc="-4" dirty="0"/>
              <a:t>is </a:t>
            </a:r>
            <a:r>
              <a:rPr spc="-578" dirty="0"/>
              <a:t> </a:t>
            </a:r>
            <a:r>
              <a:rPr spc="-4" dirty="0"/>
              <a:t>applied</a:t>
            </a:r>
            <a:r>
              <a:rPr spc="26" dirty="0"/>
              <a:t> </a:t>
            </a:r>
            <a:r>
              <a:rPr spc="-4" dirty="0"/>
              <a:t>at every</a:t>
            </a:r>
            <a:r>
              <a:rPr dirty="0"/>
              <a:t> </a:t>
            </a:r>
            <a:r>
              <a:rPr spc="-4" dirty="0"/>
              <a:t>neuron</a:t>
            </a:r>
            <a:r>
              <a:rPr spc="9" dirty="0"/>
              <a:t> </a:t>
            </a:r>
            <a:r>
              <a:rPr spc="-4" dirty="0"/>
              <a:t>of the</a:t>
            </a:r>
            <a:r>
              <a:rPr spc="-13" dirty="0"/>
              <a:t> </a:t>
            </a:r>
            <a:r>
              <a:rPr spc="-4" dirty="0"/>
              <a:t>response</a:t>
            </a:r>
            <a:r>
              <a:rPr spc="9" dirty="0"/>
              <a:t> </a:t>
            </a:r>
            <a:r>
              <a:rPr spc="-4" dirty="0"/>
              <a:t>map</a:t>
            </a:r>
            <a:r>
              <a:rPr dirty="0"/>
              <a:t> </a:t>
            </a:r>
            <a:r>
              <a:rPr spc="-18" dirty="0"/>
              <a:t>separately.</a:t>
            </a:r>
            <a:r>
              <a:rPr spc="13" dirty="0"/>
              <a:t> </a:t>
            </a:r>
            <a:r>
              <a:rPr dirty="0"/>
              <a:t>It </a:t>
            </a:r>
            <a:r>
              <a:rPr spc="4" dirty="0"/>
              <a:t> </a:t>
            </a:r>
            <a:r>
              <a:rPr spc="-4" dirty="0"/>
              <a:t>randomly</a:t>
            </a:r>
            <a:r>
              <a:rPr spc="13" dirty="0"/>
              <a:t> </a:t>
            </a:r>
            <a:r>
              <a:rPr spc="-4" dirty="0"/>
              <a:t>switches</a:t>
            </a:r>
            <a:r>
              <a:rPr spc="13" dirty="0"/>
              <a:t> </a:t>
            </a:r>
            <a:r>
              <a:rPr spc="-18" dirty="0"/>
              <a:t>off</a:t>
            </a:r>
            <a:r>
              <a:rPr spc="-4" dirty="0"/>
              <a:t> the</a:t>
            </a:r>
            <a:r>
              <a:rPr spc="-9" dirty="0"/>
              <a:t> </a:t>
            </a:r>
            <a:r>
              <a:rPr spc="-4" dirty="0"/>
              <a:t>activation</a:t>
            </a:r>
            <a:r>
              <a:rPr spc="9" dirty="0"/>
              <a:t> </a:t>
            </a:r>
            <a:r>
              <a:rPr spc="-4" dirty="0"/>
              <a:t>with</a:t>
            </a:r>
            <a:r>
              <a:rPr dirty="0"/>
              <a:t> </a:t>
            </a:r>
            <a:r>
              <a:rPr spc="-4" dirty="0"/>
              <a:t>the</a:t>
            </a:r>
            <a:r>
              <a:rPr dirty="0"/>
              <a:t> </a:t>
            </a:r>
            <a:r>
              <a:rPr spc="-4" dirty="0"/>
              <a:t>probability</a:t>
            </a:r>
            <a:r>
              <a:rPr spc="26" dirty="0"/>
              <a:t> </a:t>
            </a:r>
            <a:r>
              <a:rPr b="1" dirty="0">
                <a:latin typeface="Arial"/>
                <a:cs typeface="Arial"/>
              </a:rPr>
              <a:t>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4" dirty="0"/>
              <a:t>AlexNet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25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A3BEB4AA-6B5C-4DB5-B754-41CFA7E6E4E0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3950000"/>
            <a:ext cx="4401222" cy="235189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31353" y="386822"/>
            <a:ext cx="970429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3353" dirty="0">
                <a:solidFill>
                  <a:srgbClr val="FFFFFF"/>
                </a:solidFill>
                <a:latin typeface="Arial MT"/>
                <a:cs typeface="Arial MT"/>
              </a:rPr>
              <a:t>GG</a:t>
            </a:r>
            <a:endParaRPr sz="3353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6B2F08F6-D76A-466C-90A0-080D893F1CC0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26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04DAAAD-F749-8CED-46B3-D65D2FB99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D27093-4415-AAA3-F17E-1EF2A81F7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33575"/>
            <a:ext cx="9205444" cy="29908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31353" y="386822"/>
            <a:ext cx="970429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endParaRPr sz="3353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874855"/>
            <a:ext cx="6172200" cy="4373543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D4E073CB-F6B9-4096-B76F-32CEAD43FD5A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27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1F0C0E8-899B-F13A-06CC-F3BF455E5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VGG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E74D7D-51D2-3DAE-5603-1571985CC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13781" indent="-302575">
              <a:spcBef>
                <a:spcPts val="596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This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architecture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is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from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VGG</a:t>
            </a:r>
            <a:r>
              <a:rPr lang="en-US" sz="2800" spc="-13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0000"/>
                </a:solidFill>
                <a:latin typeface="Arial MT"/>
                <a:cs typeface="Arial MT"/>
              </a:rPr>
              <a:t>group, Oxford</a:t>
            </a:r>
            <a:r>
              <a:rPr lang="en-US" sz="2800" spc="-4" dirty="0">
                <a:latin typeface="Arial MT"/>
                <a:cs typeface="Arial MT"/>
              </a:rPr>
              <a:t>.</a:t>
            </a:r>
            <a:endParaRPr lang="en-US" sz="2800" dirty="0">
              <a:latin typeface="Arial MT"/>
              <a:cs typeface="Arial MT"/>
            </a:endParaRP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The VGG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network,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introduced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2014,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9" dirty="0">
                <a:latin typeface="Arial MT"/>
                <a:cs typeface="Arial MT"/>
              </a:rPr>
              <a:t>offers</a:t>
            </a:r>
            <a:r>
              <a:rPr lang="en-US" sz="2800" spc="-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deeper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yet </a:t>
            </a:r>
            <a:r>
              <a:rPr lang="en-US" sz="2800" spc="-57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simpler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variant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4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structures. </a:t>
            </a:r>
          </a:p>
          <a:p>
            <a:pPr marL="31322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At the time of its introduction, this model was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considered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dirty="0">
                <a:latin typeface="Arial MT"/>
                <a:cs typeface="Arial MT"/>
              </a:rPr>
              <a:t>to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very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deep.</a:t>
            </a:r>
            <a:endParaRPr lang="en-US" sz="2800" dirty="0">
              <a:latin typeface="Arial MT"/>
              <a:cs typeface="Arial MT"/>
            </a:endParaRPr>
          </a:p>
          <a:p>
            <a:endParaRPr lang="en-US" dirty="0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/>
              <a:t>V</a:t>
            </a:r>
            <a:r>
              <a:rPr sz="3353" dirty="0"/>
              <a:t>GG</a:t>
            </a:r>
            <a:endParaRPr sz="3353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28</a:t>
            </a:fld>
            <a:endParaRPr dirty="0"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DD6E79A-EF79-4B3A-80C7-6D5A43B0A140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3581400"/>
            <a:ext cx="5334000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C2817E-AFC6-2B03-46C5-7C0515387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13781" marR="423604" indent="-302575">
              <a:spcBef>
                <a:spcPts val="88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 </a:t>
            </a:r>
            <a:r>
              <a:rPr lang="en-US" sz="2800" spc="-4" dirty="0">
                <a:latin typeface="Arial MT"/>
                <a:cs typeface="Arial MT"/>
              </a:rPr>
              <a:t>makes the improvement over </a:t>
            </a:r>
            <a:r>
              <a:rPr lang="en-US" sz="2800" spc="-9" dirty="0" err="1">
                <a:latin typeface="Arial MT"/>
                <a:cs typeface="Arial MT"/>
              </a:rPr>
              <a:t>AlexNet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by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replacing large </a:t>
            </a:r>
            <a:r>
              <a:rPr lang="en-US" sz="2800" i="1" spc="-578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kernel-sized</a:t>
            </a:r>
            <a:r>
              <a:rPr lang="en-US" sz="2800" i="1" spc="22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filters</a:t>
            </a:r>
            <a:r>
              <a:rPr lang="en-US" sz="2800" i="1" spc="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spc="-57" dirty="0">
                <a:latin typeface="Arial MT"/>
                <a:cs typeface="Arial MT"/>
              </a:rPr>
              <a:t>(11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5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first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second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convolutional</a:t>
            </a:r>
            <a:r>
              <a:rPr lang="en-US" sz="2800" spc="35" dirty="0">
                <a:latin typeface="Arial MT"/>
                <a:cs typeface="Arial MT"/>
              </a:rPr>
              <a:t> </a:t>
            </a:r>
            <a:r>
              <a:rPr lang="en-US" sz="2800" spc="-22" dirty="0">
                <a:latin typeface="Arial MT"/>
                <a:cs typeface="Arial MT"/>
              </a:rPr>
              <a:t>layer,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respectively)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multiple</a:t>
            </a:r>
            <a:r>
              <a:rPr lang="en-US" sz="2800" spc="22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3X3</a:t>
            </a:r>
            <a:r>
              <a:rPr lang="en-US" sz="2800" spc="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kernel- </a:t>
            </a:r>
            <a:r>
              <a:rPr lang="en-US" sz="2800" spc="-57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sized</a:t>
            </a:r>
            <a:r>
              <a:rPr lang="en-US" sz="2800" spc="4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00B0F0"/>
                </a:solidFill>
                <a:latin typeface="Arial MT"/>
                <a:cs typeface="Arial MT"/>
              </a:rPr>
              <a:t>filters</a:t>
            </a:r>
            <a:r>
              <a:rPr lang="en-US" sz="2800" spc="-9" dirty="0">
                <a:solidFill>
                  <a:srgbClr val="00B0F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after</a:t>
            </a:r>
            <a:r>
              <a:rPr lang="en-US" sz="2800" spc="-13" dirty="0">
                <a:latin typeface="Arial MT"/>
                <a:cs typeface="Arial MT"/>
              </a:rPr>
              <a:t> </a:t>
            </a:r>
            <a:r>
              <a:rPr lang="en-US" sz="2800" spc="-18" dirty="0">
                <a:latin typeface="Arial MT"/>
                <a:cs typeface="Arial MT"/>
              </a:rPr>
              <a:t>another.</a:t>
            </a:r>
            <a:endParaRPr lang="en-US" sz="2800" dirty="0">
              <a:latin typeface="Arial MT"/>
              <a:cs typeface="Arial MT"/>
            </a:endParaRPr>
          </a:p>
          <a:p>
            <a:pPr marL="313781" marR="4483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given</a:t>
            </a:r>
            <a:r>
              <a:rPr lang="en-US" sz="2800" spc="13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receptive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field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(the</a:t>
            </a:r>
            <a:r>
              <a:rPr lang="en-US" sz="2800" spc="-9" dirty="0">
                <a:latin typeface="Arial MT"/>
                <a:cs typeface="Arial MT"/>
              </a:rPr>
              <a:t> effective</a:t>
            </a:r>
            <a:r>
              <a:rPr lang="en-US" sz="2800" spc="-4" dirty="0">
                <a:latin typeface="Arial MT"/>
                <a:cs typeface="Arial MT"/>
              </a:rPr>
              <a:t> area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size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of input 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image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which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output depends),</a:t>
            </a:r>
            <a:r>
              <a:rPr lang="en-US" sz="2800" spc="18" dirty="0"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multiple</a:t>
            </a:r>
            <a:r>
              <a:rPr lang="en-US" sz="2800" spc="22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stacked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smaller 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size</a:t>
            </a:r>
            <a:r>
              <a:rPr lang="en-US" sz="2800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kernel</a:t>
            </a:r>
            <a:r>
              <a:rPr lang="en-US" sz="2800" spc="9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is</a:t>
            </a:r>
            <a:r>
              <a:rPr lang="en-US" sz="2800" spc="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solidFill>
                  <a:srgbClr val="FFC000"/>
                </a:solidFill>
                <a:latin typeface="Arial MT"/>
                <a:cs typeface="Arial MT"/>
              </a:rPr>
              <a:t>better</a:t>
            </a:r>
            <a:r>
              <a:rPr lang="en-US" sz="2800" spc="-13" dirty="0">
                <a:solidFill>
                  <a:srgbClr val="FFC000"/>
                </a:solidFill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than</a:t>
            </a:r>
            <a:r>
              <a:rPr lang="en-US" sz="2800" spc="4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the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one</a:t>
            </a:r>
            <a:r>
              <a:rPr lang="en-US" sz="2800" spc="9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with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larger</a:t>
            </a:r>
            <a:r>
              <a:rPr lang="en-US" sz="2800" spc="22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size</a:t>
            </a:r>
            <a:r>
              <a:rPr lang="en-US" sz="2800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kernel.</a:t>
            </a:r>
          </a:p>
          <a:p>
            <a:pPr marL="713831" marR="4483" lvl="1" indent="-302575">
              <a:spcBef>
                <a:spcPts val="507"/>
              </a:spcBef>
              <a:buChar char="•"/>
              <a:tabLst>
                <a:tab pos="313221" algn="l"/>
                <a:tab pos="313781" algn="l"/>
              </a:tabLst>
            </a:pPr>
            <a:r>
              <a:rPr lang="en-US" spc="-4" dirty="0">
                <a:latin typeface="Arial MT"/>
                <a:cs typeface="Arial MT"/>
              </a:rPr>
              <a:t>Multiple</a:t>
            </a:r>
            <a:r>
              <a:rPr lang="en-US" spc="22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non-linear</a:t>
            </a:r>
            <a:r>
              <a:rPr lang="en-US" spc="40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layers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increases</a:t>
            </a:r>
            <a:r>
              <a:rPr lang="en-US" spc="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the</a:t>
            </a:r>
            <a:r>
              <a:rPr lang="en-US" dirty="0"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depth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of the </a:t>
            </a:r>
            <a:r>
              <a:rPr lang="en-US" spc="-574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network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which</a:t>
            </a:r>
            <a:r>
              <a:rPr lang="en-US" spc="22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enables</a:t>
            </a:r>
            <a:r>
              <a:rPr lang="en-US" spc="22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it 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to</a:t>
            </a:r>
            <a:r>
              <a:rPr lang="en-US" spc="-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learn</a:t>
            </a:r>
            <a:r>
              <a:rPr lang="en-US" spc="9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more</a:t>
            </a:r>
            <a:r>
              <a:rPr lang="en-US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complex</a:t>
            </a:r>
            <a:r>
              <a:rPr lang="en-US" spc="13" dirty="0">
                <a:solidFill>
                  <a:srgbClr val="00B050"/>
                </a:solidFill>
                <a:latin typeface="Arial MT"/>
                <a:cs typeface="Arial MT"/>
              </a:rPr>
              <a:t> </a:t>
            </a:r>
            <a:r>
              <a:rPr lang="en-US" spc="-4" dirty="0">
                <a:solidFill>
                  <a:srgbClr val="00B050"/>
                </a:solidFill>
                <a:latin typeface="Arial MT"/>
                <a:cs typeface="Arial MT"/>
              </a:rPr>
              <a:t>features</a:t>
            </a:r>
            <a:r>
              <a:rPr lang="en-US" spc="-4" dirty="0">
                <a:latin typeface="Arial MT"/>
                <a:cs typeface="Arial MT"/>
              </a:rPr>
              <a:t>,</a:t>
            </a:r>
            <a:r>
              <a:rPr lang="en-US" spc="-13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and </a:t>
            </a:r>
            <a:r>
              <a:rPr lang="en-US" spc="-578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that</a:t>
            </a:r>
            <a:r>
              <a:rPr lang="en-US" spc="-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too</a:t>
            </a:r>
            <a:r>
              <a:rPr lang="en-US" spc="-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at a</a:t>
            </a:r>
            <a:r>
              <a:rPr lang="en-US" spc="-9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lower</a:t>
            </a:r>
            <a:r>
              <a:rPr lang="en-US" spc="26" dirty="0">
                <a:latin typeface="Arial MT"/>
                <a:cs typeface="Arial MT"/>
              </a:rPr>
              <a:t> </a:t>
            </a:r>
            <a:r>
              <a:rPr lang="en-US" spc="-4" dirty="0">
                <a:latin typeface="Arial MT"/>
                <a:cs typeface="Arial MT"/>
              </a:rPr>
              <a:t>cost.</a:t>
            </a:r>
            <a:endParaRPr lang="en-US" dirty="0">
              <a:latin typeface="Arial MT"/>
              <a:cs typeface="Arial MT"/>
            </a:endParaRPr>
          </a:p>
          <a:p>
            <a:pPr marL="313781" marR="68360" indent="-302575" algn="just">
              <a:spcBef>
                <a:spcPts val="507"/>
              </a:spcBef>
              <a:buChar char="•"/>
              <a:tabLst>
                <a:tab pos="313781" algn="l"/>
              </a:tabLst>
            </a:pPr>
            <a:r>
              <a:rPr lang="en-US" sz="2800" dirty="0">
                <a:latin typeface="Arial MT"/>
                <a:cs typeface="Arial MT"/>
              </a:rPr>
              <a:t>It </a:t>
            </a:r>
            <a:r>
              <a:rPr lang="en-US" sz="2800" spc="-4" dirty="0">
                <a:latin typeface="Arial MT"/>
                <a:cs typeface="Arial MT"/>
              </a:rPr>
              <a:t>always uses 3 </a:t>
            </a:r>
            <a:r>
              <a:rPr lang="en-US" sz="2800" dirty="0">
                <a:latin typeface="Arial MT"/>
                <a:cs typeface="Arial MT"/>
              </a:rPr>
              <a:t>x </a:t>
            </a:r>
            <a:r>
              <a:rPr lang="en-US" sz="2800" spc="-4" dirty="0">
                <a:latin typeface="Arial MT"/>
                <a:cs typeface="Arial MT"/>
              </a:rPr>
              <a:t>3 filters with stride of 1 in convolution layer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and uses SAME padding in pooling layers 2 </a:t>
            </a:r>
            <a:r>
              <a:rPr lang="en-US" sz="2800" dirty="0">
                <a:latin typeface="Arial MT"/>
                <a:cs typeface="Arial MT"/>
              </a:rPr>
              <a:t>x </a:t>
            </a:r>
            <a:r>
              <a:rPr lang="en-US" sz="2800" spc="-4" dirty="0">
                <a:latin typeface="Arial MT"/>
                <a:cs typeface="Arial MT"/>
              </a:rPr>
              <a:t>2 with stride of </a:t>
            </a:r>
            <a:r>
              <a:rPr lang="en-US" sz="2800" spc="-578" dirty="0">
                <a:latin typeface="Arial MT"/>
                <a:cs typeface="Arial MT"/>
              </a:rPr>
              <a:t> </a:t>
            </a:r>
            <a:r>
              <a:rPr lang="en-US" sz="2800" spc="-4" dirty="0">
                <a:latin typeface="Arial MT"/>
                <a:cs typeface="Arial MT"/>
              </a:rPr>
              <a:t>2 –</a:t>
            </a:r>
            <a:r>
              <a:rPr lang="en-US" sz="2800" spc="-9" dirty="0">
                <a:latin typeface="Arial MT"/>
                <a:cs typeface="Arial MT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Simplified</a:t>
            </a:r>
            <a:r>
              <a:rPr lang="en-US" sz="2800" i="1" spc="4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sz="2800" i="1" spc="-4" dirty="0">
                <a:solidFill>
                  <a:srgbClr val="FF0000"/>
                </a:solidFill>
                <a:latin typeface="Arial"/>
                <a:cs typeface="Arial"/>
              </a:rPr>
              <a:t>architecture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206" rIns="0" bIns="0" rtlCol="0" anchor="ctr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/>
              <a:t>V</a:t>
            </a:r>
            <a:r>
              <a:rPr sz="3353" dirty="0"/>
              <a:t>GG</a:t>
            </a:r>
            <a:endParaRPr sz="3353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11936413" y="7045325"/>
            <a:ext cx="255587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29</a:t>
            </a:fld>
            <a:endParaRPr dirty="0"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4294967295"/>
          </p:nvPr>
        </p:nvSpPr>
        <p:spPr>
          <a:xfrm>
            <a:off x="0" y="7137400"/>
            <a:ext cx="14001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E8385FD5-5747-4C12-BFA6-6A107393B71D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4294967295"/>
          </p:nvPr>
        </p:nvSpPr>
        <p:spPr>
          <a:xfrm>
            <a:off x="0" y="7155731"/>
            <a:ext cx="1733550" cy="1157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r>
              <a:rPr lang="en-US" spc="-10" dirty="0"/>
              <a:t>Presented by Dr. Qurat Ul Ain </a:t>
            </a:r>
            <a:endParaRPr spc="-9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479282" y="4691156"/>
            <a:ext cx="5410200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dirty="0" err="1">
                <a:solidFill>
                  <a:srgbClr val="FFFFFF"/>
                </a:solidFill>
                <a:latin typeface="Arial MT"/>
                <a:cs typeface="Arial MT"/>
              </a:rPr>
              <a:t>VGG</a:t>
            </a:r>
            <a:r>
              <a:rPr sz="2118" b="1" spc="-4" dirty="0" err="1">
                <a:latin typeface="Arial"/>
                <a:cs typeface="Arial"/>
              </a:rPr>
              <a:t>Parameters</a:t>
            </a:r>
            <a:r>
              <a:rPr sz="2118" b="1" spc="-4" dirty="0">
                <a:latin typeface="Arial"/>
                <a:cs typeface="Arial"/>
              </a:rPr>
              <a:t>: </a:t>
            </a:r>
            <a:r>
              <a:rPr sz="2118" spc="-4" dirty="0">
                <a:latin typeface="Arial MT"/>
                <a:cs typeface="Arial MT"/>
              </a:rPr>
              <a:t>138</a:t>
            </a:r>
            <a:r>
              <a:rPr sz="2118" spc="-26" dirty="0">
                <a:latin typeface="Arial MT"/>
                <a:cs typeface="Arial MT"/>
              </a:rPr>
              <a:t> </a:t>
            </a:r>
            <a:r>
              <a:rPr sz="2118" spc="-4" dirty="0">
                <a:latin typeface="Arial MT"/>
                <a:cs typeface="Arial MT"/>
              </a:rPr>
              <a:t>million</a:t>
            </a:r>
            <a:endParaRPr sz="2118" dirty="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2370814"/>
            <a:ext cx="9083482" cy="211637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05E8026E-98D5-43E9-B928-9061DB41C68B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30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A99136D-B5D6-0A0C-BEF2-1A427B2C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7707"/>
            <a:ext cx="10972800" cy="838200"/>
          </a:xfrm>
        </p:spPr>
        <p:txBody>
          <a:bodyPr/>
          <a:lstStyle/>
          <a:p>
            <a:r>
              <a:rPr lang="en-US" dirty="0"/>
              <a:t>VGG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131353" y="386822"/>
            <a:ext cx="970429" cy="5272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3353" spc="-9" dirty="0">
                <a:solidFill>
                  <a:srgbClr val="FFFFFF"/>
                </a:solidFill>
                <a:latin typeface="Arial MT"/>
                <a:cs typeface="Arial MT"/>
              </a:rPr>
              <a:t>V</a:t>
            </a:r>
            <a:r>
              <a:rPr sz="3353" dirty="0">
                <a:solidFill>
                  <a:srgbClr val="FFFFFF"/>
                </a:solidFill>
                <a:latin typeface="Arial MT"/>
                <a:cs typeface="Arial MT"/>
              </a:rPr>
              <a:t>GG</a:t>
            </a:r>
            <a:endParaRPr sz="3353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855905"/>
            <a:ext cx="5497157" cy="514618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b="0" i="1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206">
              <a:lnSpc>
                <a:spcPts val="944"/>
              </a:lnSpc>
            </a:pPr>
            <a:fld id="{332A7E51-2D9C-406A-90F2-4F50E456F6F8}" type="datetime1">
              <a:rPr lang="en-US" spc="-9" smtClean="0"/>
              <a:t>3/6/2026</a:t>
            </a:fld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400" b="0" i="0" kern="1200">
                <a:solidFill>
                  <a:schemeClr val="bg1"/>
                </a:solidFill>
                <a:latin typeface="Times New Roman"/>
                <a:ea typeface="+mn-ea"/>
                <a:cs typeface="Times New Roman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ts val="1530"/>
              </a:lnSpc>
              <a:spcBef>
                <a:spcPts val="75"/>
              </a:spcBef>
            </a:pPr>
            <a:fld id="{81D60167-4931-47E6-BA6A-407CBD079E47}" type="slidenum">
              <a:rPr lang="en-US" smtClean="0"/>
              <a:pPr marL="38100">
                <a:lnSpc>
                  <a:spcPts val="1530"/>
                </a:lnSpc>
                <a:spcBef>
                  <a:spcPts val="75"/>
                </a:spcBef>
              </a:pPr>
              <a:t>31</a:t>
            </a:fld>
            <a:endParaRPr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752B2EE-E022-08F0-ECBF-28D6639A7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4193"/>
            <a:ext cx="10972800" cy="838200"/>
          </a:xfrm>
        </p:spPr>
        <p:txBody>
          <a:bodyPr/>
          <a:lstStyle/>
          <a:p>
            <a:r>
              <a:rPr lang="en-US" dirty="0"/>
              <a:t>VGG</a:t>
            </a:r>
          </a:p>
        </p:txBody>
      </p:sp>
      <p:pic>
        <p:nvPicPr>
          <p:cNvPr id="12" name="object 6">
            <a:extLst>
              <a:ext uri="{FF2B5EF4-FFF2-40B4-BE49-F238E27FC236}">
                <a16:creationId xmlns:a16="http://schemas.microsoft.com/office/drawing/2014/main" id="{0A3013CD-251A-C8D8-4AEB-E26B679A3FE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992393"/>
            <a:ext cx="5586054" cy="2927873"/>
          </a:xfrm>
          <a:prstGeom prst="rect">
            <a:avLst/>
          </a:prstGeom>
        </p:spPr>
      </p:pic>
      <p:grpSp>
        <p:nvGrpSpPr>
          <p:cNvPr id="13" name="object 7">
            <a:extLst>
              <a:ext uri="{FF2B5EF4-FFF2-40B4-BE49-F238E27FC236}">
                <a16:creationId xmlns:a16="http://schemas.microsoft.com/office/drawing/2014/main" id="{A339715D-17F4-478B-9E59-DB85DF63D5C0}"/>
              </a:ext>
            </a:extLst>
          </p:cNvPr>
          <p:cNvGrpSpPr/>
          <p:nvPr/>
        </p:nvGrpSpPr>
        <p:grpSpPr>
          <a:xfrm>
            <a:off x="5943600" y="4593123"/>
            <a:ext cx="5419165" cy="1097616"/>
            <a:chOff x="1211573" y="2282952"/>
            <a:chExt cx="6141720" cy="1243965"/>
          </a:xfrm>
        </p:grpSpPr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65348CC0-D9A3-4D1D-D05D-AE1F951BB7A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1385" y="2302764"/>
              <a:ext cx="6102096" cy="1203960"/>
            </a:xfrm>
            <a:prstGeom prst="rect">
              <a:avLst/>
            </a:prstGeom>
          </p:spPr>
        </p:pic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456305A2-7C7D-B842-C288-933B663FD470}"/>
                </a:ext>
              </a:extLst>
            </p:cNvPr>
            <p:cNvSpPr/>
            <p:nvPr/>
          </p:nvSpPr>
          <p:spPr>
            <a:xfrm>
              <a:off x="1211573" y="2282952"/>
              <a:ext cx="6141720" cy="1243965"/>
            </a:xfrm>
            <a:custGeom>
              <a:avLst/>
              <a:gdLst/>
              <a:ahLst/>
              <a:cxnLst/>
              <a:rect l="l" t="t" r="r" b="b"/>
              <a:pathLst>
                <a:path w="6141720" h="1243964">
                  <a:moveTo>
                    <a:pt x="6141726" y="1239012"/>
                  </a:moveTo>
                  <a:lnTo>
                    <a:pt x="6141726" y="4572"/>
                  </a:lnTo>
                  <a:lnTo>
                    <a:pt x="6137154" y="0"/>
                  </a:lnTo>
                  <a:lnTo>
                    <a:pt x="4572" y="0"/>
                  </a:lnTo>
                  <a:lnTo>
                    <a:pt x="0" y="4572"/>
                  </a:lnTo>
                  <a:lnTo>
                    <a:pt x="0" y="1239012"/>
                  </a:lnTo>
                  <a:lnTo>
                    <a:pt x="4572" y="1243584"/>
                  </a:lnTo>
                  <a:lnTo>
                    <a:pt x="10668" y="1243584"/>
                  </a:lnTo>
                  <a:lnTo>
                    <a:pt x="10668" y="19812"/>
                  </a:lnTo>
                  <a:lnTo>
                    <a:pt x="19812" y="10668"/>
                  </a:lnTo>
                  <a:lnTo>
                    <a:pt x="19812" y="19812"/>
                  </a:lnTo>
                  <a:lnTo>
                    <a:pt x="6121914" y="19812"/>
                  </a:lnTo>
                  <a:lnTo>
                    <a:pt x="6121914" y="10668"/>
                  </a:lnTo>
                  <a:lnTo>
                    <a:pt x="6132582" y="19812"/>
                  </a:lnTo>
                  <a:lnTo>
                    <a:pt x="6132582" y="1243584"/>
                  </a:lnTo>
                  <a:lnTo>
                    <a:pt x="6137154" y="1243584"/>
                  </a:lnTo>
                  <a:lnTo>
                    <a:pt x="6141726" y="1239012"/>
                  </a:lnTo>
                  <a:close/>
                </a:path>
                <a:path w="6141720" h="1243964">
                  <a:moveTo>
                    <a:pt x="19812" y="19812"/>
                  </a:moveTo>
                  <a:lnTo>
                    <a:pt x="19812" y="10668"/>
                  </a:lnTo>
                  <a:lnTo>
                    <a:pt x="10668" y="19812"/>
                  </a:lnTo>
                  <a:lnTo>
                    <a:pt x="19812" y="19812"/>
                  </a:lnTo>
                  <a:close/>
                </a:path>
                <a:path w="6141720" h="1243964">
                  <a:moveTo>
                    <a:pt x="19812" y="1223772"/>
                  </a:moveTo>
                  <a:lnTo>
                    <a:pt x="19812" y="19812"/>
                  </a:lnTo>
                  <a:lnTo>
                    <a:pt x="10668" y="19812"/>
                  </a:lnTo>
                  <a:lnTo>
                    <a:pt x="10668" y="1223772"/>
                  </a:lnTo>
                  <a:lnTo>
                    <a:pt x="19812" y="1223772"/>
                  </a:lnTo>
                  <a:close/>
                </a:path>
                <a:path w="6141720" h="1243964">
                  <a:moveTo>
                    <a:pt x="6132582" y="1223772"/>
                  </a:moveTo>
                  <a:lnTo>
                    <a:pt x="10668" y="1223772"/>
                  </a:lnTo>
                  <a:lnTo>
                    <a:pt x="19812" y="1232916"/>
                  </a:lnTo>
                  <a:lnTo>
                    <a:pt x="19812" y="1243584"/>
                  </a:lnTo>
                  <a:lnTo>
                    <a:pt x="6121914" y="1243584"/>
                  </a:lnTo>
                  <a:lnTo>
                    <a:pt x="6121914" y="1232916"/>
                  </a:lnTo>
                  <a:lnTo>
                    <a:pt x="6132582" y="1223772"/>
                  </a:lnTo>
                  <a:close/>
                </a:path>
                <a:path w="6141720" h="1243964">
                  <a:moveTo>
                    <a:pt x="19812" y="1243584"/>
                  </a:moveTo>
                  <a:lnTo>
                    <a:pt x="19812" y="1232916"/>
                  </a:lnTo>
                  <a:lnTo>
                    <a:pt x="10668" y="1223772"/>
                  </a:lnTo>
                  <a:lnTo>
                    <a:pt x="10668" y="1243584"/>
                  </a:lnTo>
                  <a:lnTo>
                    <a:pt x="19812" y="1243584"/>
                  </a:lnTo>
                  <a:close/>
                </a:path>
                <a:path w="6141720" h="1243964">
                  <a:moveTo>
                    <a:pt x="6132582" y="19812"/>
                  </a:moveTo>
                  <a:lnTo>
                    <a:pt x="6121914" y="10668"/>
                  </a:lnTo>
                  <a:lnTo>
                    <a:pt x="6121914" y="19812"/>
                  </a:lnTo>
                  <a:lnTo>
                    <a:pt x="6132582" y="19812"/>
                  </a:lnTo>
                  <a:close/>
                </a:path>
                <a:path w="6141720" h="1243964">
                  <a:moveTo>
                    <a:pt x="6132582" y="1223772"/>
                  </a:moveTo>
                  <a:lnTo>
                    <a:pt x="6132582" y="19812"/>
                  </a:lnTo>
                  <a:lnTo>
                    <a:pt x="6121914" y="19812"/>
                  </a:lnTo>
                  <a:lnTo>
                    <a:pt x="6121914" y="1223772"/>
                  </a:lnTo>
                  <a:lnTo>
                    <a:pt x="6132582" y="1223772"/>
                  </a:lnTo>
                  <a:close/>
                </a:path>
                <a:path w="6141720" h="1243964">
                  <a:moveTo>
                    <a:pt x="6132582" y="1243584"/>
                  </a:moveTo>
                  <a:lnTo>
                    <a:pt x="6132582" y="1223772"/>
                  </a:lnTo>
                  <a:lnTo>
                    <a:pt x="6121914" y="1232916"/>
                  </a:lnTo>
                  <a:lnTo>
                    <a:pt x="6121914" y="1243584"/>
                  </a:lnTo>
                  <a:lnTo>
                    <a:pt x="6132582" y="12435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21B1789-0662-B718-79C0-C02647C76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813373"/>
            <a:ext cx="4648200" cy="308421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AAA764-BCD6-2274-2FCE-1E7404D29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1D57-3756-8CEB-22B2-2FA87052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11FAE7E-9673-0BF3-8A5B-17737B6EA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Pre-Trained Models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8848EC-012D-9D9A-3374-10F93DDBA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1824806"/>
            <a:ext cx="5594273" cy="190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189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9B333D-3259-5FE8-9D17-8A730D7F1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Transfer learning is a machine learning technique where a model trained on a large dataset (e.g., ImageNet) is reused and fine-tuned on a smaller, specific dataset.</a:t>
            </a:r>
          </a:p>
          <a:p>
            <a:r>
              <a:rPr lang="en-US" b="1" dirty="0"/>
              <a:t>Avoids Training from Scratch </a:t>
            </a:r>
            <a:r>
              <a:rPr lang="en-US" dirty="0"/>
              <a:t>– Training deep models like VGG or </a:t>
            </a:r>
            <a:r>
              <a:rPr lang="en-US" dirty="0" err="1"/>
              <a:t>AlexNet</a:t>
            </a:r>
            <a:r>
              <a:rPr lang="en-US" dirty="0"/>
              <a:t> from scratch on small datasets is inefficient.</a:t>
            </a:r>
          </a:p>
          <a:p>
            <a:r>
              <a:rPr lang="en-US" b="1" dirty="0"/>
              <a:t>Reduces Training Time</a:t>
            </a:r>
            <a:r>
              <a:rPr lang="en-US" dirty="0"/>
              <a:t> – Since the model already knows basic patterns (edges, textures, shapes), only the last layers need to be trained.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B2BE4-5A51-BA9E-3B26-040A97E1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37C107-CD4A-DF11-62BD-07D05C12C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B8A6D0-7FB6-D5BA-52DE-5E55554A8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2367407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70BFF2-7C9D-E840-9EB6-1FD11BAE5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Prevents Overfitting</a:t>
            </a:r>
            <a:r>
              <a:rPr lang="en-US" dirty="0"/>
              <a:t> – With fewer data points, training a deep network from scratch can lead to overfitting. </a:t>
            </a:r>
          </a:p>
          <a:p>
            <a:pPr lvl="1"/>
            <a:r>
              <a:rPr lang="en-US" dirty="0"/>
              <a:t>Transfer learning mitigates this.</a:t>
            </a:r>
          </a:p>
          <a:p>
            <a:r>
              <a:rPr lang="en-US" b="1" dirty="0"/>
              <a:t>Improves Accuracy</a:t>
            </a:r>
            <a:r>
              <a:rPr lang="en-US" dirty="0"/>
              <a:t> – Pretrained models on large datasets generalize better and learn more effectively on smaller datasets.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90E50-03B6-438C-C002-33FF6F8C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FE045-851A-DC79-61AA-466ACBFCC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B0D30E-127F-B985-69A6-CA9751EDB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1666566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CFFC7-F7BF-D8C5-ED8E-45D0EDCB2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Recommended Scenarios:</a:t>
            </a:r>
          </a:p>
          <a:p>
            <a:pPr lvl="1"/>
            <a:r>
              <a:rPr lang="en-US" dirty="0"/>
              <a:t>Small dataset (few thousand images)</a:t>
            </a:r>
          </a:p>
          <a:p>
            <a:pPr lvl="1"/>
            <a:r>
              <a:rPr lang="en-US" dirty="0"/>
              <a:t>Similar dataset to ImageNet (e.g., Cars, Animals, Fruits)</a:t>
            </a:r>
          </a:p>
          <a:p>
            <a:r>
              <a:rPr lang="en-US" dirty="0"/>
              <a:t>Not Recommended</a:t>
            </a:r>
          </a:p>
          <a:p>
            <a:pPr lvl="1"/>
            <a:r>
              <a:rPr lang="en-US" dirty="0"/>
              <a:t>Completely different dataset (e.g., Medical Images, X-rays)</a:t>
            </a:r>
          </a:p>
          <a:p>
            <a:pPr lvl="1"/>
            <a:r>
              <a:rPr lang="en-US" dirty="0"/>
              <a:t>Large dataset (&gt;1M images)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2063F-9994-2862-A5B1-EA1EEF62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C19C6-B481-5998-92C3-DD4A2FCF0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A8AADF5-1974-64BD-C952-755749FD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8212755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31C92B-745A-DCD7-9113-928A0E5A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</a:t>
            </a:r>
            <a:r>
              <a:rPr lang="en-US" b="1" dirty="0"/>
              <a:t>two main approaches</a:t>
            </a:r>
            <a:r>
              <a:rPr lang="en-US" dirty="0"/>
              <a:t>:</a:t>
            </a:r>
          </a:p>
          <a:p>
            <a:r>
              <a:rPr lang="en-US" b="1" dirty="0"/>
              <a:t>A. Feature Extraction (Frozen Layers)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Keep </a:t>
            </a:r>
            <a:r>
              <a:rPr lang="en-US" b="1" dirty="0"/>
              <a:t>pretrained convolutional layers frozen</a:t>
            </a:r>
            <a:r>
              <a:rPr lang="en-US" dirty="0"/>
              <a:t> (don’t update weights).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Replace the </a:t>
            </a:r>
            <a:r>
              <a:rPr lang="en-US" b="1" dirty="0"/>
              <a:t>fully connected layers</a:t>
            </a:r>
            <a:r>
              <a:rPr lang="en-US" dirty="0"/>
              <a:t> and train only them.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Used when dataset is small</a:t>
            </a:r>
            <a:r>
              <a:rPr lang="en-US" dirty="0"/>
              <a:t> but </a:t>
            </a:r>
            <a:r>
              <a:rPr lang="en-US" b="1" dirty="0"/>
              <a:t>similar to the original dataset</a:t>
            </a:r>
            <a:r>
              <a:rPr lang="en-US" dirty="0"/>
              <a:t>.</a:t>
            </a:r>
          </a:p>
          <a:p>
            <a:r>
              <a:rPr lang="en-US" b="1" dirty="0"/>
              <a:t>B. Fine-tuning (Unfreeze Some Layers)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Unfreeze some </a:t>
            </a:r>
            <a:r>
              <a:rPr lang="en-US" b="1" dirty="0"/>
              <a:t>deep convolutional layers</a:t>
            </a:r>
            <a:r>
              <a:rPr lang="en-US" dirty="0"/>
              <a:t> and train them along with the new classifier.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Used when the dataset is large or very different</a:t>
            </a:r>
            <a:r>
              <a:rPr lang="en-US" dirty="0"/>
              <a:t> from ImageNet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22254-1B36-6AF5-7569-10A0DCC6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7F896-864D-35BE-07A2-672F5382F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DC3E2E-F3A6-5C05-D359-A48400FF4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Transfer Learning?</a:t>
            </a:r>
          </a:p>
        </p:txBody>
      </p:sp>
    </p:spTree>
    <p:extLst>
      <p:ext uri="{BB962C8B-B14F-4D97-AF65-F5344CB8AC3E}">
        <p14:creationId xmlns:p14="http://schemas.microsoft.com/office/powerpoint/2010/main" val="28728817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E1DD955-A358-5022-CF62-2E7846482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Load VGG16 pretrained on ImageNet (</a:t>
            </a:r>
            <a:r>
              <a:rPr lang="en-US" sz="3200" b="1" dirty="0"/>
              <a:t>1000 classes</a:t>
            </a:r>
            <a:r>
              <a:rPr lang="en-US" sz="3200" dirty="0"/>
              <a:t>).</a:t>
            </a:r>
          </a:p>
          <a:p>
            <a:r>
              <a:rPr lang="en-US" sz="3200" dirty="0"/>
              <a:t>Remove the last layers (fully connected layers).</a:t>
            </a:r>
          </a:p>
          <a:p>
            <a:r>
              <a:rPr lang="en-US" sz="3200" dirty="0"/>
              <a:t>Add custom layers for our dataset (</a:t>
            </a:r>
            <a:r>
              <a:rPr lang="en-US" sz="3200" b="1" dirty="0"/>
              <a:t>e.g., 10 classes</a:t>
            </a:r>
            <a:r>
              <a:rPr lang="en-US" sz="3200" dirty="0"/>
              <a:t>).</a:t>
            </a:r>
          </a:p>
          <a:p>
            <a:r>
              <a:rPr lang="en-US" sz="3200" dirty="0"/>
              <a:t>Train on a small dataset.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630692-0798-121B-3472-65D39FFC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34278C-E9E1-D823-840E-F413BAF15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A62BDE-5D83-574B-1C96-D60ECAEF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VGG16 for a Custom Dataset</a:t>
            </a:r>
          </a:p>
        </p:txBody>
      </p:sp>
    </p:spTree>
    <p:extLst>
      <p:ext uri="{BB962C8B-B14F-4D97-AF65-F5344CB8AC3E}">
        <p14:creationId xmlns:p14="http://schemas.microsoft.com/office/powerpoint/2010/main" val="6726113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9B69A9-484E-DB2D-8311-C15E50B4C1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676400"/>
            <a:ext cx="10156652" cy="33528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573B6D-45C1-F6BA-17E3-162FD46E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654C2-6526-C704-9C6F-8B59EA81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C779BAA-216F-8DAC-644D-B31BA5C3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Load Pretrained VGG16 Model</a:t>
            </a:r>
          </a:p>
        </p:txBody>
      </p:sp>
    </p:spTree>
    <p:extLst>
      <p:ext uri="{BB962C8B-B14F-4D97-AF65-F5344CB8AC3E}">
        <p14:creationId xmlns:p14="http://schemas.microsoft.com/office/powerpoint/2010/main" val="3397630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0B4F4BF-5240-BB60-D1E2-03FA187DC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209800"/>
            <a:ext cx="9372600" cy="278682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2BDE26-13A5-4545-0EAC-1E81E2921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4056B-0986-7BF1-2B64-B082295A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0481695-3D03-434A-8E85-0BB4DA31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Add Custom Layers</a:t>
            </a:r>
          </a:p>
        </p:txBody>
      </p:sp>
    </p:spTree>
    <p:extLst>
      <p:ext uri="{BB962C8B-B14F-4D97-AF65-F5344CB8AC3E}">
        <p14:creationId xmlns:p14="http://schemas.microsoft.com/office/powerpoint/2010/main" val="36225672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AD2F62D-9963-19B4-F208-6DC0866E4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0600" y="952993"/>
            <a:ext cx="8839200" cy="552400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F4B1B-9669-637E-C4AC-2BA1528C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5A253-3B00-E622-F208-0F2CCD4CB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559F989-CB39-68A3-56CB-14436586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58899"/>
            <a:ext cx="10972800" cy="838200"/>
          </a:xfrm>
        </p:spPr>
        <p:txBody>
          <a:bodyPr/>
          <a:lstStyle/>
          <a:p>
            <a:r>
              <a:rPr lang="en-US" dirty="0"/>
              <a:t>Step 3: Compile and Train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678C0-6858-701D-E1A9-FDF7F45E4E46}"/>
              </a:ext>
            </a:extLst>
          </p:cNvPr>
          <p:cNvSpPr txBox="1"/>
          <p:nvPr/>
        </p:nvSpPr>
        <p:spPr>
          <a:xfrm>
            <a:off x="3962400" y="4953000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If we set </a:t>
            </a:r>
            <a:r>
              <a:rPr lang="en-US" dirty="0" err="1">
                <a:solidFill>
                  <a:srgbClr val="FF0000"/>
                </a:solidFill>
              </a:rPr>
              <a:t>class_mode</a:t>
            </a:r>
            <a:r>
              <a:rPr lang="en-US" dirty="0">
                <a:solidFill>
                  <a:srgbClr val="FF0000"/>
                </a:solidFill>
              </a:rPr>
              <a:t>='sparse', labels are assigned as integers</a:t>
            </a:r>
          </a:p>
          <a:p>
            <a:r>
              <a:rPr lang="en-US" dirty="0">
                <a:solidFill>
                  <a:srgbClr val="FF0000"/>
                </a:solidFill>
              </a:rPr>
              <a:t>Cat → 0 </a:t>
            </a:r>
          </a:p>
          <a:p>
            <a:r>
              <a:rPr lang="en-US" dirty="0">
                <a:solidFill>
                  <a:srgbClr val="FF0000"/>
                </a:solidFill>
              </a:rPr>
              <a:t>Dog → 1 </a:t>
            </a:r>
          </a:p>
          <a:p>
            <a:r>
              <a:rPr lang="en-US" dirty="0">
                <a:solidFill>
                  <a:srgbClr val="FF0000"/>
                </a:solidFill>
              </a:rPr>
              <a:t>Elephant → 2</a:t>
            </a:r>
          </a:p>
        </p:txBody>
      </p:sp>
    </p:spTree>
    <p:extLst>
      <p:ext uri="{BB962C8B-B14F-4D97-AF65-F5344CB8AC3E}">
        <p14:creationId xmlns:p14="http://schemas.microsoft.com/office/powerpoint/2010/main" val="36229992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E4E4C61-24C0-AD52-216B-AD03F12F96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676400"/>
            <a:ext cx="8572502" cy="3429000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F7248-90D1-3DE8-3323-830BD5FDD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E07DB-256C-53B6-B891-F4496A35A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A63EF4-626E-1EB4-6B8A-8BDC76215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</a:t>
            </a:r>
          </a:p>
        </p:txBody>
      </p:sp>
    </p:spTree>
    <p:extLst>
      <p:ext uri="{BB962C8B-B14F-4D97-AF65-F5344CB8AC3E}">
        <p14:creationId xmlns:p14="http://schemas.microsoft.com/office/powerpoint/2010/main" val="13111906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03C72E-7AC9-989A-B252-D05A52F32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467600" cy="4525963"/>
          </a:xfrm>
        </p:spPr>
        <p:txBody>
          <a:bodyPr/>
          <a:lstStyle/>
          <a:p>
            <a:r>
              <a:rPr lang="en-US" dirty="0"/>
              <a:t>Accuracy is a common metric for classification models.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Top-K Categorical Accuracy</a:t>
            </a:r>
            <a:r>
              <a:rPr lang="en-US" dirty="0"/>
              <a:t> (for large class datasets, like ImageNet):</a:t>
            </a:r>
          </a:p>
          <a:p>
            <a:pPr lvl="1"/>
            <a:r>
              <a:rPr lang="en-US" dirty="0"/>
              <a:t>Checks if the correct label is in the top K predictions.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E8490-822D-9A28-3EB1-E5C05637B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F3818-A1B3-4854-76E0-DB073385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A7227A7-B38F-9BD6-2251-9FFBA230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3BEE20-20C9-6119-5E23-5B4C99457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476500"/>
            <a:ext cx="3734562" cy="990600"/>
          </a:xfrm>
          <a:prstGeom prst="rect">
            <a:avLst/>
          </a:prstGeom>
        </p:spPr>
      </p:pic>
      <p:pic>
        <p:nvPicPr>
          <p:cNvPr id="12" name="Content Placeholder 10">
            <a:extLst>
              <a:ext uri="{FF2B5EF4-FFF2-40B4-BE49-F238E27FC236}">
                <a16:creationId xmlns:a16="http://schemas.microsoft.com/office/drawing/2014/main" id="{DD3EDE1B-5BF2-A46E-140D-FC664405F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130" y="1999860"/>
            <a:ext cx="399414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687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36735-4C62-89DC-782C-20BD7579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31142-FB0E-6770-DC1A-0524DCAF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B091AC-8E35-3F0A-4F95-CDA67E2B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1097E8-2461-6C4C-8C09-0AD69E739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Precision and Recall (for imbalanced data):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4686A2-2EE0-5BA5-9F57-0829F3B7C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209800"/>
            <a:ext cx="8211140" cy="349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74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D4B1506-BC1A-D588-9126-ACC579B3B8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447801"/>
            <a:ext cx="7715065" cy="3154524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1D0596-BD67-E9BB-8FBE-0594488B3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1C0C3-FBDC-4CAA-90CF-D581C1B746B0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7CAB5-A289-82A5-72D1-FA8DEDA2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1256BA9-6546-2F6A-854D-E4D35C28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Metrics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ADE729-587D-CF4C-4E0C-F54B273FC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4678524"/>
            <a:ext cx="7186283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80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152" y="2866672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1726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45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0F15-E814-4B73-9741-FBB8F8E3F288}" type="datetime1">
              <a:rPr lang="en-US" smtClean="0"/>
              <a:t>3/6/2026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80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21337</TotalTime>
  <Words>1815</Words>
  <Application>Microsoft Office PowerPoint</Application>
  <PresentationFormat>Widescreen</PresentationFormat>
  <Paragraphs>258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Arial</vt:lpstr>
      <vt:lpstr>Arial MT</vt:lpstr>
      <vt:lpstr>Calibri</vt:lpstr>
      <vt:lpstr>Times New Roman</vt:lpstr>
      <vt:lpstr>Office Theme</vt:lpstr>
      <vt:lpstr>PowerPoint Presentation</vt:lpstr>
      <vt:lpstr>Goals</vt:lpstr>
      <vt:lpstr>ConvNets vs. Traditional for Computer Vision</vt:lpstr>
      <vt:lpstr>Traditional Classification Pipeline</vt:lpstr>
      <vt:lpstr>Traditional Classification Pipeline</vt:lpstr>
      <vt:lpstr>Traditional Classification Pipeline</vt:lpstr>
      <vt:lpstr>Automatic Feature Learning</vt:lpstr>
      <vt:lpstr>Automatic Feature Learning</vt:lpstr>
      <vt:lpstr>ConvNet Architectures</vt:lpstr>
      <vt:lpstr>ConvNet Architectures</vt:lpstr>
      <vt:lpstr>LetNet-1998</vt:lpstr>
      <vt:lpstr>LeNet-5</vt:lpstr>
      <vt:lpstr>LeNet-5</vt:lpstr>
      <vt:lpstr>LeNet-5: Reading a Check</vt:lpstr>
      <vt:lpstr>Architecture of LeNet-5</vt:lpstr>
      <vt:lpstr>Architecture of LeNet-5</vt:lpstr>
      <vt:lpstr>Architecture of LeNet-5</vt:lpstr>
      <vt:lpstr>Architecture of LeNet-5</vt:lpstr>
      <vt:lpstr>AlexNet</vt:lpstr>
      <vt:lpstr>AlexNet</vt:lpstr>
      <vt:lpstr>AlexNet</vt:lpstr>
      <vt:lpstr>AlexNet</vt:lpstr>
      <vt:lpstr>AlexNet</vt:lpstr>
      <vt:lpstr>AlexNet</vt:lpstr>
      <vt:lpstr>AlexNet</vt:lpstr>
      <vt:lpstr>VGG</vt:lpstr>
      <vt:lpstr>VGG</vt:lpstr>
      <vt:lpstr>VGG</vt:lpstr>
      <vt:lpstr>VGG</vt:lpstr>
      <vt:lpstr>VGG</vt:lpstr>
      <vt:lpstr>VGG</vt:lpstr>
      <vt:lpstr>Pre-Trained Models</vt:lpstr>
      <vt:lpstr>What is Transfer Learning?</vt:lpstr>
      <vt:lpstr>What is Transfer Learning?</vt:lpstr>
      <vt:lpstr>When to Use Transfer Learning?</vt:lpstr>
      <vt:lpstr>How to Use Transfer Learning?</vt:lpstr>
      <vt:lpstr>Using VGG16 for a Custom Dataset</vt:lpstr>
      <vt:lpstr>Step 1: Load Pretrained VGG16 Model</vt:lpstr>
      <vt:lpstr>Step 2: Add Custom Layers</vt:lpstr>
      <vt:lpstr>Step 3: Compile and Train</vt:lpstr>
      <vt:lpstr>Fine-Tuning</vt:lpstr>
      <vt:lpstr>Evaluation Metrics</vt:lpstr>
      <vt:lpstr>Evaluation Metrics</vt:lpstr>
      <vt:lpstr>Evaluation Metrics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Dr Hussain</cp:lastModifiedBy>
  <cp:revision>1490</cp:revision>
  <dcterms:created xsi:type="dcterms:W3CDTF">2006-08-16T00:00:00Z</dcterms:created>
  <dcterms:modified xsi:type="dcterms:W3CDTF">2026-03-06T05:23:29Z</dcterms:modified>
</cp:coreProperties>
</file>